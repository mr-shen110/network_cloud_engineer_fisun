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300" r:id="rId10"/>
    <p:sldId id="299" r:id="rId11"/>
    <p:sldId id="304" r:id="rId12"/>
    <p:sldId id="302" r:id="rId13"/>
    <p:sldId id="303" r:id="rId14"/>
    <p:sldId id="305" r:id="rId15"/>
    <p:sldId id="262" r:id="rId16"/>
    <p:sldId id="307" r:id="rId17"/>
    <p:sldId id="306" r:id="rId18"/>
    <p:sldId id="308" r:id="rId19"/>
    <p:sldId id="263" r:id="rId20"/>
    <p:sldId id="309" r:id="rId21"/>
    <p:sldId id="264" r:id="rId22"/>
    <p:sldId id="265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E11A40-47B0-4494-8E7D-2D000D0C37DC}">
  <a:tblStyle styleId="{CFE11A40-47B0-4494-8E7D-2D000D0C37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8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image" Target="../media/image23.emf"/><Relationship Id="rId7" Type="http://schemas.openxmlformats.org/officeDocument/2006/relationships/image" Target="../media/image27.emf"/><Relationship Id="rId12" Type="http://schemas.openxmlformats.org/officeDocument/2006/relationships/image" Target="../media/image32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Relationship Id="rId6" Type="http://schemas.openxmlformats.org/officeDocument/2006/relationships/image" Target="../media/image26.emf"/><Relationship Id="rId11" Type="http://schemas.openxmlformats.org/officeDocument/2006/relationships/image" Target="../media/image31.emf"/><Relationship Id="rId5" Type="http://schemas.openxmlformats.org/officeDocument/2006/relationships/image" Target="../media/image25.emf"/><Relationship Id="rId10" Type="http://schemas.openxmlformats.org/officeDocument/2006/relationships/image" Target="../media/image30.emf"/><Relationship Id="rId4" Type="http://schemas.openxmlformats.org/officeDocument/2006/relationships/image" Target="../media/image24.emf"/><Relationship Id="rId9" Type="http://schemas.openxmlformats.org/officeDocument/2006/relationships/image" Target="../media/image2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0155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3923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9995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1285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2358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8692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6813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67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01426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4499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{CFE11A40-47B0-4494-8E7D-2D000D0C37DC}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{CFE11A40-47B0-4494-8E7D-2D000D0C37DC}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oleObject" Target="../embeddings/oleObject5.bin"/><Relationship Id="rId18" Type="http://schemas.openxmlformats.org/officeDocument/2006/relationships/image" Target="../media/image27.emf"/><Relationship Id="rId26" Type="http://schemas.openxmlformats.org/officeDocument/2006/relationships/image" Target="../media/image31.emf"/><Relationship Id="rId3" Type="http://schemas.openxmlformats.org/officeDocument/2006/relationships/notesSlide" Target="../notesSlides/notesSlide12.xml"/><Relationship Id="rId21" Type="http://schemas.openxmlformats.org/officeDocument/2006/relationships/oleObject" Target="../embeddings/oleObject9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24.emf"/><Relationship Id="rId17" Type="http://schemas.openxmlformats.org/officeDocument/2006/relationships/oleObject" Target="../embeddings/oleObject7.bin"/><Relationship Id="rId25" Type="http://schemas.openxmlformats.org/officeDocument/2006/relationships/oleObject" Target="../embeddings/oleObject11.bin"/><Relationship Id="rId2" Type="http://schemas.openxmlformats.org/officeDocument/2006/relationships/slideLayout" Target="../slideLayouts/slideLayout10.xml"/><Relationship Id="rId16" Type="http://schemas.openxmlformats.org/officeDocument/2006/relationships/image" Target="../media/image26.emf"/><Relationship Id="rId20" Type="http://schemas.openxmlformats.org/officeDocument/2006/relationships/image" Target="../media/image28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1.emf"/><Relationship Id="rId11" Type="http://schemas.openxmlformats.org/officeDocument/2006/relationships/oleObject" Target="../embeddings/oleObject4.bin"/><Relationship Id="rId24" Type="http://schemas.openxmlformats.org/officeDocument/2006/relationships/image" Target="../media/image30.emf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23" Type="http://schemas.openxmlformats.org/officeDocument/2006/relationships/oleObject" Target="../embeddings/oleObject10.bin"/><Relationship Id="rId28" Type="http://schemas.openxmlformats.org/officeDocument/2006/relationships/image" Target="../media/image32.emf"/><Relationship Id="rId10" Type="http://schemas.openxmlformats.org/officeDocument/2006/relationships/image" Target="../media/image23.emf"/><Relationship Id="rId19" Type="http://schemas.openxmlformats.org/officeDocument/2006/relationships/oleObject" Target="../embeddings/oleObject8.bin"/><Relationship Id="rId4" Type="http://schemas.openxmlformats.org/officeDocument/2006/relationships/image" Target="../media/image33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25.emf"/><Relationship Id="rId22" Type="http://schemas.openxmlformats.org/officeDocument/2006/relationships/image" Target="../media/image29.emf"/><Relationship Id="rId27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526567" y="1454857"/>
            <a:ext cx="7584300" cy="118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Отказоустойчивый сервис в растянутом </a:t>
            </a:r>
            <a:r>
              <a:rPr lang="en-US" sz="36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L2 </a:t>
            </a:r>
            <a:r>
              <a:rPr lang="ru-RU" sz="36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две фабрики</a:t>
            </a:r>
            <a:endParaRPr sz="36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dirty="0" smtClean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Дизайн сетей ЦОД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lvl="0">
              <a:buSzPts val="1100"/>
            </a:pPr>
            <a:r>
              <a:rPr lang="ru" sz="3000" dirty="0" smtClean="0"/>
              <a:t>Тема: </a:t>
            </a:r>
            <a:r>
              <a:rPr lang="ru-RU" sz="3000" dirty="0"/>
              <a:t>Отказоустойчивый сервис в </a:t>
            </a:r>
            <a:r>
              <a:rPr lang="en-US" sz="3000" dirty="0" smtClean="0"/>
              <a:t>	  </a:t>
            </a:r>
            <a:r>
              <a:rPr lang="ru-RU" sz="3000" dirty="0" smtClean="0"/>
              <a:t>растянутом </a:t>
            </a:r>
            <a:r>
              <a:rPr lang="ru-RU" sz="3000" dirty="0"/>
              <a:t>L2 на две фабрики</a:t>
            </a:r>
            <a:endParaRPr sz="300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165;p37"/>
          <p:cNvSpPr txBox="1"/>
          <p:nvPr/>
        </p:nvSpPr>
        <p:spPr>
          <a:xfrm>
            <a:off x="4133654" y="2738682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Иван Фисун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166;p37"/>
          <p:cNvSpPr txBox="1"/>
          <p:nvPr/>
        </p:nvSpPr>
        <p:spPr>
          <a:xfrm>
            <a:off x="4133654" y="3282307"/>
            <a:ext cx="3603984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 err="1" smtClean="0">
                <a:latin typeface="Roboto Medium"/>
                <a:ea typeface="Roboto Medium"/>
                <a:cs typeface="Roboto Medium"/>
                <a:sym typeface="Roboto Medium"/>
              </a:rPr>
              <a:t>Гл.Специалист</a:t>
            </a:r>
            <a:r>
              <a:rPr lang="ru-RU" sz="1300" dirty="0" smtClean="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ИТ-инфраструктуры</a:t>
            </a:r>
            <a:b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Поддержка\развитие\защита сети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083B626-0B93-42F9-81B4-3E5FF1DE5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2103080"/>
            <a:ext cx="2349900" cy="1843994"/>
          </a:xfrm>
          <a:prstGeom prst="rect">
            <a:avLst/>
          </a:prstGeom>
          <a:effectLst>
            <a:softEdge rad="1143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План защиты</a:t>
            </a:r>
            <a:endParaRPr dirty="0"/>
          </a:p>
        </p:txBody>
      </p:sp>
      <p:sp>
        <p:nvSpPr>
          <p:cNvPr id="24" name="Google Shape;172;p38"/>
          <p:cNvSpPr/>
          <p:nvPr/>
        </p:nvSpPr>
        <p:spPr>
          <a:xfrm>
            <a:off x="690774" y="1431995"/>
            <a:ext cx="35117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Задача и условия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Google Shape;173;p38"/>
          <p:cNvSpPr/>
          <p:nvPr/>
        </p:nvSpPr>
        <p:spPr>
          <a:xfrm>
            <a:off x="687774" y="2012182"/>
            <a:ext cx="35135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Используемые технологии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" name="Google Shape;174;p38"/>
          <p:cNvSpPr/>
          <p:nvPr/>
        </p:nvSpPr>
        <p:spPr>
          <a:xfrm>
            <a:off x="690774" y="2592369"/>
            <a:ext cx="35105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Работы и результат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175;p38"/>
          <p:cNvSpPr/>
          <p:nvPr/>
        </p:nvSpPr>
        <p:spPr>
          <a:xfrm>
            <a:off x="690774" y="3186918"/>
            <a:ext cx="35105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 </a:t>
            </a: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планы по развитию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" name="Google Shape;176;p38"/>
          <p:cNvCxnSpPr>
            <a:cxnSpLocks/>
            <a:stCxn id="24" idx="1"/>
            <a:endCxn id="25" idx="1"/>
          </p:cNvCxnSpPr>
          <p:nvPr/>
        </p:nvCxnSpPr>
        <p:spPr>
          <a:xfrm rot="10800000" flipV="1">
            <a:off x="687774" y="1620094"/>
            <a:ext cx="3000" cy="580187"/>
          </a:xfrm>
          <a:prstGeom prst="bentConnector3">
            <a:avLst>
              <a:gd name="adj1" fmla="val 772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9" name="Google Shape;177;p38"/>
          <p:cNvCxnSpPr>
            <a:cxnSpLocks/>
            <a:stCxn id="25" idx="1"/>
            <a:endCxn id="26" idx="1"/>
          </p:cNvCxnSpPr>
          <p:nvPr/>
        </p:nvCxnSpPr>
        <p:spPr>
          <a:xfrm rot="10800000" flipH="1" flipV="1">
            <a:off x="687774" y="2200281"/>
            <a:ext cx="3000" cy="580187"/>
          </a:xfrm>
          <a:prstGeom prst="bentConnector3">
            <a:avLst>
              <a:gd name="adj1" fmla="val -762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0" name="Google Shape;178;p38"/>
          <p:cNvCxnSpPr>
            <a:cxnSpLocks/>
            <a:stCxn id="26" idx="1"/>
            <a:endCxn id="27" idx="1"/>
          </p:cNvCxnSpPr>
          <p:nvPr/>
        </p:nvCxnSpPr>
        <p:spPr>
          <a:xfrm rot="10800000" flipV="1">
            <a:off x="690774" y="2780468"/>
            <a:ext cx="12700" cy="594549"/>
          </a:xfrm>
          <a:prstGeom prst="bentConnector3">
            <a:avLst>
              <a:gd name="adj1" fmla="val 18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" name="Google Shape;179;p38"/>
          <p:cNvCxnSpPr>
            <a:cxnSpLocks/>
          </p:cNvCxnSpPr>
          <p:nvPr/>
        </p:nvCxnSpPr>
        <p:spPr>
          <a:xfrm rot="10800000" flipH="1" flipV="1">
            <a:off x="703474" y="3375018"/>
            <a:ext cx="12" cy="526650"/>
          </a:xfrm>
          <a:prstGeom prst="bentConnector3">
            <a:avLst>
              <a:gd name="adj1" fmla="val -19050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" name="Google Shape;180;p38"/>
          <p:cNvSpPr/>
          <p:nvPr/>
        </p:nvSpPr>
        <p:spPr>
          <a:xfrm>
            <a:off x="690786" y="3748003"/>
            <a:ext cx="3510488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172;p38">
            <a:extLst>
              <a:ext uri="{FF2B5EF4-FFF2-40B4-BE49-F238E27FC236}">
                <a16:creationId xmlns:a16="http://schemas.microsoft.com/office/drawing/2014/main" id="{4558C006-18D9-4011-911C-2473CC233C07}"/>
              </a:ext>
            </a:extLst>
          </p:cNvPr>
          <p:cNvSpPr/>
          <p:nvPr/>
        </p:nvSpPr>
        <p:spPr>
          <a:xfrm>
            <a:off x="0" y="4921624"/>
            <a:ext cx="2918012" cy="2218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 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589" y="4355039"/>
            <a:ext cx="2522699" cy="6641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173536" y="324881"/>
            <a:ext cx="8907564" cy="79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Задач</a:t>
            </a:r>
            <a:r>
              <a:rPr lang="ru-RU" sz="2800" b="1" dirty="0" smtClean="0">
                <a:latin typeface="Roboto"/>
                <a:ea typeface="Roboto"/>
                <a:cs typeface="Roboto"/>
                <a:sym typeface="Roboto"/>
              </a:rPr>
              <a:t>а и условия (все же «любят» ограничения)</a:t>
            </a:r>
            <a:endParaRPr sz="28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500429079"/>
              </p:ext>
            </p:extLst>
          </p:nvPr>
        </p:nvGraphicFramePr>
        <p:xfrm>
          <a:off x="570588" y="1676553"/>
          <a:ext cx="8002824" cy="3157578"/>
        </p:xfrm>
        <a:graphic>
          <a:graphicData uri="http://schemas.openxmlformats.org/drawingml/2006/table">
            <a:tbl>
              <a:tblPr>
                <a:noFill/>
                <a:tableStyleId>{CFE11A40-47B0-4494-8E7D-2D000D0C37DC}</a:tableStyleId>
              </a:tblPr>
              <a:tblGrid>
                <a:gridCol w="541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1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80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Задача: Обеспечить работу</a:t>
                      </a:r>
                      <a:r>
                        <a:rPr lang="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приложения в кластере между ЦОД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«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»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«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»</a:t>
                      </a:r>
                      <a:r>
                        <a:rPr lang="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(K8S</a:t>
                      </a:r>
                      <a:r>
                        <a:rPr lang="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80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Условие1:</a:t>
                      </a:r>
                      <a:r>
                        <a:rPr lang="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Сетевая отказоустойчивость</a:t>
                      </a:r>
                      <a:endParaRPr lang="en-US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80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Условие2: </a:t>
                      </a:r>
                      <a:r>
                        <a:rPr lang="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Одинаковый </a:t>
                      </a:r>
                      <a:r>
                        <a:rPr lang="en-US" baseline="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vlan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+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gateway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89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r>
                        <a:rPr lang="en-US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/>
                      </a:r>
                      <a:br>
                        <a:rPr lang="en-US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Условие3:</a:t>
                      </a:r>
                      <a:r>
                        <a:rPr lang="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Инфраструктура</a:t>
                      </a: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только на </a:t>
                      </a:r>
                      <a:r>
                        <a:rPr lang="en-US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Arista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(руководство выделила только его)</a:t>
                      </a:r>
                      <a:endParaRPr lang="en-US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Условие4: </a:t>
                      </a:r>
                      <a:r>
                        <a:rPr lang="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Тестовая среда «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EVE-NG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»</a:t>
                      </a:r>
                      <a:r>
                        <a:rPr lang="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лимит в 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~30GB Memory (</a:t>
                      </a: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 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~13vm)</a:t>
                      </a: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Пожелание: Топология </a:t>
                      </a:r>
                      <a:r>
                        <a:rPr lang="en-US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Clos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89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570588" y="926960"/>
            <a:ext cx="8002824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 smtClean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Тест дублирующей инфраструктуры в соседнем ЦОД     </a:t>
            </a:r>
            <a:r>
              <a:rPr lang="en-US" sz="1500" dirty="0" smtClean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(</a:t>
            </a:r>
            <a:r>
              <a:rPr lang="ru-RU" sz="1500" dirty="0" smtClean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копия в резервном облаке</a:t>
            </a:r>
            <a:r>
              <a:rPr lang="en-US" sz="1500" dirty="0" smtClean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)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" name="Google Shape;172;p38">
            <a:extLst>
              <a:ext uri="{FF2B5EF4-FFF2-40B4-BE49-F238E27FC236}">
                <a16:creationId xmlns:a16="http://schemas.microsoft.com/office/drawing/2014/main" id="{4558C006-18D9-4011-911C-2473CC233C07}"/>
              </a:ext>
            </a:extLst>
          </p:cNvPr>
          <p:cNvSpPr/>
          <p:nvPr/>
        </p:nvSpPr>
        <p:spPr>
          <a:xfrm>
            <a:off x="0" y="4921624"/>
            <a:ext cx="2918012" cy="2218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 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153512" y="0"/>
            <a:ext cx="8990488" cy="7705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dirty="0" smtClean="0"/>
              <a:t>Используемые технологии</a:t>
            </a:r>
            <a:r>
              <a:rPr lang="ru" sz="2600" dirty="0"/>
              <a:t> </a:t>
            </a:r>
            <a:r>
              <a:rPr lang="ru" sz="2600" dirty="0" smtClean="0"/>
              <a:t>подбираем под задачу.</a:t>
            </a:r>
            <a:endParaRPr sz="26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55" y="840980"/>
            <a:ext cx="5923576" cy="2303647"/>
          </a:xfrm>
          <a:prstGeom prst="rect">
            <a:avLst/>
          </a:prstGeom>
        </p:spPr>
      </p:pic>
      <p:sp>
        <p:nvSpPr>
          <p:cNvPr id="10" name="Google Shape;368;p53"/>
          <p:cNvSpPr txBox="1"/>
          <p:nvPr/>
        </p:nvSpPr>
        <p:spPr>
          <a:xfrm>
            <a:off x="153512" y="385281"/>
            <a:ext cx="877023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>
                <a:solidFill>
                  <a:schemeClr val="dk1"/>
                </a:solidFill>
                <a:latin typeface="Roboto Medium"/>
                <a:sym typeface="Roboto Medium"/>
              </a:rPr>
              <a:t>Определимся на чём строить сеть</a:t>
            </a:r>
            <a:endParaRPr sz="2000" dirty="0"/>
          </a:p>
        </p:txBody>
      </p:sp>
      <p:sp>
        <p:nvSpPr>
          <p:cNvPr id="11" name="Google Shape;368;p53"/>
          <p:cNvSpPr txBox="1"/>
          <p:nvPr/>
        </p:nvSpPr>
        <p:spPr>
          <a:xfrm>
            <a:off x="153511" y="3026777"/>
            <a:ext cx="8770231" cy="1989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1800" dirty="0">
                <a:solidFill>
                  <a:schemeClr val="dk1"/>
                </a:solidFill>
                <a:latin typeface="Roboto Medium"/>
                <a:sym typeface="Roboto Medium"/>
              </a:rPr>
              <a:t>Лучшим для </a:t>
            </a:r>
            <a:r>
              <a:rPr lang="ru-RU" sz="1800" dirty="0" err="1">
                <a:solidFill>
                  <a:schemeClr val="dk1"/>
                </a:solidFill>
                <a:latin typeface="Roboto Medium"/>
                <a:sym typeface="Roboto Medium"/>
              </a:rPr>
              <a:t>Clos</a:t>
            </a:r>
            <a:r>
              <a:rPr lang="ru-RU" sz="1800" dirty="0" smtClean="0">
                <a:solidFill>
                  <a:schemeClr val="dk1"/>
                </a:solidFill>
                <a:latin typeface="Roboto Medium"/>
                <a:sym typeface="Roboto Medium"/>
              </a:rPr>
              <a:t>, </a:t>
            </a:r>
            <a:r>
              <a:rPr lang="ru-RU" sz="1800" dirty="0">
                <a:solidFill>
                  <a:schemeClr val="dk1"/>
                </a:solidFill>
                <a:latin typeface="Roboto Medium"/>
                <a:sym typeface="Roboto Medium"/>
              </a:rPr>
              <a:t>думаю выступил бы BGP, т.к.:</a:t>
            </a:r>
            <a:br>
              <a:rPr lang="ru-RU" sz="1800" dirty="0">
                <a:solidFill>
                  <a:schemeClr val="dk1"/>
                </a:solidFill>
                <a:latin typeface="Roboto Medium"/>
                <a:sym typeface="Roboto Medium"/>
              </a:rPr>
            </a:br>
            <a:r>
              <a:rPr lang="ru-RU" sz="1200" b="1" dirty="0">
                <a:solidFill>
                  <a:schemeClr val="dk1"/>
                </a:solidFill>
                <a:latin typeface="Roboto Medium"/>
                <a:sym typeface="Roboto Medium"/>
              </a:rPr>
              <a:t>+</a:t>
            </a:r>
            <a:r>
              <a:rPr lang="ru-RU" sz="1200" dirty="0">
                <a:solidFill>
                  <a:schemeClr val="dk1"/>
                </a:solidFill>
                <a:latin typeface="Roboto Medium"/>
                <a:sym typeface="Roboto Medium"/>
              </a:rPr>
              <a:t> В </a:t>
            </a:r>
            <a:r>
              <a:rPr lang="ru-RU" sz="1200" dirty="0" err="1">
                <a:solidFill>
                  <a:schemeClr val="dk1"/>
                </a:solidFill>
                <a:latin typeface="Roboto Medium"/>
                <a:sym typeface="Roboto Medium"/>
              </a:rPr>
              <a:t>Clos’е</a:t>
            </a:r>
            <a:r>
              <a:rPr lang="ru-RU" sz="1200" dirty="0">
                <a:solidFill>
                  <a:schemeClr val="dk1"/>
                </a:solidFill>
                <a:latin typeface="Roboto Medium"/>
                <a:sym typeface="Roboto Medium"/>
              </a:rPr>
              <a:t> все </a:t>
            </a:r>
            <a:r>
              <a:rPr lang="ru-RU" sz="1200" dirty="0" err="1">
                <a:solidFill>
                  <a:schemeClr val="dk1"/>
                </a:solidFill>
                <a:latin typeface="Roboto Medium"/>
                <a:sym typeface="Roboto Medium"/>
              </a:rPr>
              <a:t>линки</a:t>
            </a:r>
            <a:r>
              <a:rPr lang="ru-RU" sz="1200" dirty="0">
                <a:solidFill>
                  <a:schemeClr val="dk1"/>
                </a:solidFill>
                <a:latin typeface="Roboto Medium"/>
                <a:sym typeface="Roboto Medium"/>
              </a:rPr>
              <a:t> – равноправные</a:t>
            </a:r>
            <a:br>
              <a:rPr lang="ru-RU" sz="1200" dirty="0">
                <a:solidFill>
                  <a:schemeClr val="dk1"/>
                </a:solidFill>
                <a:latin typeface="Roboto Medium"/>
                <a:sym typeface="Roboto Medium"/>
              </a:rPr>
            </a:br>
            <a:r>
              <a:rPr lang="ru-RU" sz="1200" b="1" dirty="0">
                <a:solidFill>
                  <a:schemeClr val="dk1"/>
                </a:solidFill>
                <a:latin typeface="Roboto Medium"/>
                <a:sym typeface="Roboto Medium"/>
              </a:rPr>
              <a:t>+</a:t>
            </a:r>
            <a:r>
              <a:rPr lang="ru-RU" sz="1200" dirty="0">
                <a:solidFill>
                  <a:schemeClr val="dk1"/>
                </a:solidFill>
                <a:latin typeface="Roboto Medium"/>
                <a:sym typeface="Roboto Medium"/>
              </a:rPr>
              <a:t> BGP легко настроить с </a:t>
            </a:r>
            <a:r>
              <a:rPr lang="ru-RU" sz="1200" dirty="0" err="1">
                <a:solidFill>
                  <a:schemeClr val="dk1"/>
                </a:solidFill>
                <a:latin typeface="Roboto Medium"/>
                <a:sym typeface="Roboto Medium"/>
              </a:rPr>
              <a:t>eBGP</a:t>
            </a:r>
            <a:r>
              <a:rPr lang="ru-RU" sz="1200" dirty="0">
                <a:solidFill>
                  <a:schemeClr val="dk1"/>
                </a:solidFill>
                <a:latin typeface="Roboto Medium"/>
                <a:sym typeface="Roboto Medium"/>
              </a:rPr>
              <a:t> между уровнями</a:t>
            </a:r>
            <a:br>
              <a:rPr lang="ru-RU" sz="1200" dirty="0">
                <a:solidFill>
                  <a:schemeClr val="dk1"/>
                </a:solidFill>
                <a:latin typeface="Roboto Medium"/>
                <a:sym typeface="Roboto Medium"/>
              </a:rPr>
            </a:br>
            <a:r>
              <a:rPr lang="ru-RU" sz="1200" b="1" dirty="0">
                <a:solidFill>
                  <a:schemeClr val="dk1"/>
                </a:solidFill>
                <a:latin typeface="Roboto Medium"/>
                <a:sym typeface="Roboto Medium"/>
              </a:rPr>
              <a:t>+</a:t>
            </a:r>
            <a:r>
              <a:rPr lang="ru-RU" sz="1200" dirty="0">
                <a:solidFill>
                  <a:schemeClr val="dk1"/>
                </a:solidFill>
                <a:latin typeface="Roboto Medium"/>
                <a:sym typeface="Roboto Medium"/>
              </a:rPr>
              <a:t> BGP </a:t>
            </a:r>
            <a:r>
              <a:rPr lang="ru-RU" sz="1200" dirty="0" err="1">
                <a:solidFill>
                  <a:schemeClr val="dk1"/>
                </a:solidFill>
                <a:latin typeface="Roboto Medium"/>
                <a:sym typeface="Roboto Medium"/>
              </a:rPr>
              <a:t>масштабируемее</a:t>
            </a:r>
            <a:r>
              <a:rPr lang="ru-RU" sz="1200" dirty="0">
                <a:solidFill>
                  <a:schemeClr val="dk1"/>
                </a:solidFill>
                <a:latin typeface="Roboto Medium"/>
                <a:sym typeface="Roboto Medium"/>
              </a:rPr>
              <a:t> и гибче рулит трафиком (нет зон, DR/BDR)</a:t>
            </a:r>
          </a:p>
          <a:p>
            <a:pPr lvl="0">
              <a:lnSpc>
                <a:spcPct val="115000"/>
              </a:lnSpc>
            </a:pPr>
            <a:r>
              <a:rPr lang="ru-RU" sz="1200" b="1" dirty="0">
                <a:solidFill>
                  <a:schemeClr val="dk1"/>
                </a:solidFill>
                <a:latin typeface="Roboto Medium"/>
                <a:sym typeface="Roboto Medium"/>
              </a:rPr>
              <a:t>+</a:t>
            </a:r>
            <a:r>
              <a:rPr lang="ru-RU" sz="1200" dirty="0">
                <a:solidFill>
                  <a:schemeClr val="dk1"/>
                </a:solidFill>
                <a:latin typeface="Roboto Medium"/>
                <a:sym typeface="Roboto Medium"/>
              </a:rPr>
              <a:t> BGP будто бы стабильнее (меньше шума между и надёжный обмен префиксами (179/</a:t>
            </a:r>
            <a:r>
              <a:rPr lang="ru-RU" sz="1200" dirty="0" err="1">
                <a:solidFill>
                  <a:schemeClr val="dk1"/>
                </a:solidFill>
                <a:latin typeface="Roboto Medium"/>
                <a:sym typeface="Roboto Medium"/>
              </a:rPr>
              <a:t>tcp</a:t>
            </a:r>
            <a:r>
              <a:rPr lang="ru-RU" sz="1200" dirty="0">
                <a:solidFill>
                  <a:schemeClr val="dk1"/>
                </a:solidFill>
                <a:latin typeface="Roboto Medium"/>
                <a:sym typeface="Roboto Medium"/>
              </a:rPr>
              <a:t>), нет SPF-расчётов)</a:t>
            </a:r>
          </a:p>
          <a:p>
            <a:pPr lvl="1">
              <a:lnSpc>
                <a:spcPct val="115000"/>
              </a:lnSpc>
            </a:pPr>
            <a:r>
              <a:rPr lang="ru-RU" sz="1200" b="1" dirty="0">
                <a:solidFill>
                  <a:schemeClr val="dk1"/>
                </a:solidFill>
                <a:latin typeface="Roboto Medium"/>
                <a:sym typeface="Roboto Medium"/>
              </a:rPr>
              <a:t>+</a:t>
            </a:r>
            <a:r>
              <a:rPr lang="ru-RU" sz="1200" dirty="0">
                <a:solidFill>
                  <a:schemeClr val="dk1"/>
                </a:solidFill>
                <a:latin typeface="Roboto Medium"/>
                <a:sym typeface="Roboto Medium"/>
              </a:rPr>
              <a:t> BGP это современно. Выбор больших парней в своих DC (AWS, </a:t>
            </a:r>
            <a:r>
              <a:rPr lang="ru-RU" sz="1200" dirty="0" err="1">
                <a:solidFill>
                  <a:schemeClr val="dk1"/>
                </a:solidFill>
                <a:latin typeface="Roboto Medium"/>
                <a:sym typeface="Roboto Medium"/>
              </a:rPr>
              <a:t>Google</a:t>
            </a:r>
            <a:r>
              <a:rPr lang="ru-RU" sz="1200" dirty="0">
                <a:solidFill>
                  <a:schemeClr val="dk1"/>
                </a:solidFill>
                <a:latin typeface="Roboto Medium"/>
                <a:sym typeface="Roboto Medium"/>
              </a:rPr>
              <a:t>, </a:t>
            </a:r>
            <a:r>
              <a:rPr lang="ru-RU" sz="1200" dirty="0" err="1">
                <a:solidFill>
                  <a:schemeClr val="dk1"/>
                </a:solidFill>
                <a:latin typeface="Roboto Medium"/>
                <a:sym typeface="Roboto Medium"/>
              </a:rPr>
              <a:t>Microsoft</a:t>
            </a:r>
            <a:r>
              <a:rPr lang="ru-RU" sz="1200" dirty="0">
                <a:solidFill>
                  <a:schemeClr val="dk1"/>
                </a:solidFill>
                <a:latin typeface="Roboto Medium"/>
                <a:sym typeface="Roboto Medium"/>
              </a:rPr>
              <a:t>).</a:t>
            </a:r>
          </a:p>
          <a:p>
            <a:pPr lvl="0">
              <a:lnSpc>
                <a:spcPct val="115000"/>
              </a:lnSpc>
            </a:pPr>
            <a:r>
              <a:rPr lang="ru-RU" sz="1200" b="1" dirty="0" smtClean="0">
                <a:solidFill>
                  <a:schemeClr val="dk1"/>
                </a:solidFill>
                <a:latin typeface="Roboto Medium"/>
                <a:sym typeface="Roboto Medium"/>
              </a:rPr>
              <a:t/>
            </a:r>
            <a:br>
              <a:rPr lang="ru-RU" sz="1200" b="1" dirty="0" smtClean="0">
                <a:solidFill>
                  <a:schemeClr val="dk1"/>
                </a:solidFill>
                <a:latin typeface="Roboto Medium"/>
                <a:sym typeface="Roboto Medium"/>
              </a:rPr>
            </a:br>
            <a:r>
              <a:rPr lang="ru-RU" sz="1200" b="1" dirty="0" smtClean="0">
                <a:solidFill>
                  <a:schemeClr val="dk1"/>
                </a:solidFill>
                <a:latin typeface="Roboto Medium"/>
                <a:sym typeface="Roboto Medium"/>
              </a:rPr>
              <a:t>-</a:t>
            </a:r>
            <a:r>
              <a:rPr lang="ru-RU" sz="1200" dirty="0" smtClean="0">
                <a:solidFill>
                  <a:schemeClr val="dk1"/>
                </a:solidFill>
                <a:latin typeface="Roboto Medium"/>
                <a:sym typeface="Roboto Medium"/>
              </a:rPr>
              <a:t> Из коробки медленная </a:t>
            </a:r>
            <a:r>
              <a:rPr lang="ru-RU" sz="1200" dirty="0">
                <a:solidFill>
                  <a:schemeClr val="dk1"/>
                </a:solidFill>
                <a:latin typeface="Roboto Medium"/>
                <a:sym typeface="Roboto Medium"/>
              </a:rPr>
              <a:t>сходимость и </a:t>
            </a:r>
            <a:r>
              <a:rPr lang="ru-RU" sz="1200" dirty="0" smtClean="0">
                <a:solidFill>
                  <a:schemeClr val="dk1"/>
                </a:solidFill>
                <a:latin typeface="Roboto Medium"/>
                <a:sym typeface="Roboto Medium"/>
              </a:rPr>
              <a:t>не </a:t>
            </a:r>
            <a:r>
              <a:rPr lang="en-US" sz="1200" dirty="0" smtClean="0">
                <a:solidFill>
                  <a:schemeClr val="dk1"/>
                </a:solidFill>
                <a:latin typeface="Roboto Medium"/>
                <a:sym typeface="Roboto Medium"/>
              </a:rPr>
              <a:t>link-state</a:t>
            </a:r>
            <a:endParaRPr lang="ru-RU" sz="1200" dirty="0"/>
          </a:p>
        </p:txBody>
      </p:sp>
      <p:sp>
        <p:nvSpPr>
          <p:cNvPr id="12" name="Google Shape;172;p38">
            <a:extLst>
              <a:ext uri="{FF2B5EF4-FFF2-40B4-BE49-F238E27FC236}">
                <a16:creationId xmlns:a16="http://schemas.microsoft.com/office/drawing/2014/main" id="{4558C006-18D9-4011-911C-2473CC233C07}"/>
              </a:ext>
            </a:extLst>
          </p:cNvPr>
          <p:cNvSpPr/>
          <p:nvPr/>
        </p:nvSpPr>
        <p:spPr>
          <a:xfrm>
            <a:off x="0" y="4921624"/>
            <a:ext cx="2918012" cy="2218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 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37072" y="923860"/>
            <a:ext cx="1380251" cy="214288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6260671" y="2494012"/>
            <a:ext cx="2775119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 smtClean="0">
                <a:solidFill>
                  <a:schemeClr val="dk1"/>
                </a:solidFill>
                <a:latin typeface="Roboto"/>
                <a:sym typeface="Roboto"/>
              </a:rPr>
              <a:t>Ну а </a:t>
            </a:r>
            <a:r>
              <a:rPr lang="en-US" b="1" dirty="0" smtClean="0">
                <a:solidFill>
                  <a:schemeClr val="dk1"/>
                </a:solidFill>
                <a:latin typeface="Roboto"/>
                <a:sym typeface="Roboto"/>
              </a:rPr>
              <a:t>Overlay</a:t>
            </a:r>
            <a:r>
              <a:rPr lang="ru-RU" b="1" dirty="0" smtClean="0">
                <a:solidFill>
                  <a:schemeClr val="dk1"/>
                </a:solidFill>
                <a:latin typeface="Roboto"/>
                <a:sym typeface="Roboto"/>
              </a:rPr>
              <a:t/>
            </a:r>
            <a:br>
              <a:rPr lang="ru-RU" b="1" dirty="0" smtClean="0">
                <a:solidFill>
                  <a:schemeClr val="dk1"/>
                </a:solidFill>
                <a:latin typeface="Roboto"/>
                <a:sym typeface="Roboto"/>
              </a:rPr>
            </a:br>
            <a:r>
              <a:rPr lang="en-US" b="1" dirty="0" smtClean="0">
                <a:solidFill>
                  <a:schemeClr val="dk1"/>
                </a:solidFill>
                <a:latin typeface="Roboto"/>
                <a:sym typeface="Roboto"/>
              </a:rPr>
              <a:t>BGP VXLAN</a:t>
            </a:r>
            <a:r>
              <a:rPr lang="ru-RU" b="1" dirty="0">
                <a:solidFill>
                  <a:schemeClr val="dk1"/>
                </a:solidFill>
                <a:latin typeface="Roboto"/>
                <a:sym typeface="Roboto"/>
              </a:rPr>
              <a:t> </a:t>
            </a:r>
            <a:r>
              <a:rPr lang="en-US" b="1" dirty="0" err="1" smtClean="0">
                <a:solidFill>
                  <a:schemeClr val="dk1"/>
                </a:solidFill>
                <a:latin typeface="Roboto"/>
                <a:sym typeface="Roboto"/>
              </a:rPr>
              <a:t>evpn</a:t>
            </a:r>
            <a:r>
              <a:rPr lang="en-US" b="1" dirty="0" smtClean="0">
                <a:solidFill>
                  <a:schemeClr val="dk1"/>
                </a:solidFill>
                <a:latin typeface="Roboto"/>
                <a:sym typeface="Roboto"/>
              </a:rPr>
              <a:t> </a:t>
            </a:r>
            <a:r>
              <a:rPr lang="en-US" dirty="0" smtClean="0">
                <a:solidFill>
                  <a:schemeClr val="dk1"/>
                </a:solidFill>
                <a:latin typeface="Roboto"/>
                <a:sym typeface="Roboto"/>
              </a:rPr>
              <a:t>=)</a:t>
            </a:r>
            <a:r>
              <a:rPr lang="ru-RU" b="1" dirty="0" smtClean="0">
                <a:solidFill>
                  <a:schemeClr val="dk1"/>
                </a:solidFill>
                <a:latin typeface="Roboto"/>
                <a:sym typeface="Roboto"/>
              </a:rPr>
              <a:t/>
            </a:r>
            <a:br>
              <a:rPr lang="ru-RU" b="1" dirty="0" smtClean="0">
                <a:solidFill>
                  <a:schemeClr val="dk1"/>
                </a:solidFill>
                <a:latin typeface="Roboto"/>
                <a:sym typeface="Roboto"/>
              </a:rPr>
            </a:br>
            <a:r>
              <a:rPr lang="ru-RU" dirty="0" smtClean="0">
                <a:solidFill>
                  <a:schemeClr val="dk1"/>
                </a:solidFill>
                <a:latin typeface="Roboto"/>
                <a:sym typeface="Roboto"/>
              </a:rPr>
              <a:t>распространённый и понятный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153512" y="0"/>
            <a:ext cx="8990488" cy="7705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dirty="0" smtClean="0"/>
              <a:t>Используемые технологии</a:t>
            </a:r>
            <a:r>
              <a:rPr lang="ru" sz="2600" dirty="0"/>
              <a:t> </a:t>
            </a:r>
            <a:r>
              <a:rPr lang="ru" sz="2600" dirty="0" smtClean="0"/>
              <a:t>подбираем под задачу.</a:t>
            </a:r>
            <a:endParaRPr sz="2600" dirty="0"/>
          </a:p>
        </p:txBody>
      </p:sp>
      <p:sp>
        <p:nvSpPr>
          <p:cNvPr id="10" name="Google Shape;368;p53"/>
          <p:cNvSpPr txBox="1"/>
          <p:nvPr/>
        </p:nvSpPr>
        <p:spPr>
          <a:xfrm>
            <a:off x="153511" y="517677"/>
            <a:ext cx="877023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>
                <a:solidFill>
                  <a:schemeClr val="dk1"/>
                </a:solidFill>
                <a:latin typeface="Roboto Medium"/>
                <a:sym typeface="Roboto Medium"/>
              </a:rPr>
              <a:t>Spoiler. </a:t>
            </a:r>
            <a:r>
              <a:rPr lang="ru-RU" sz="2000" dirty="0" smtClean="0">
                <a:solidFill>
                  <a:schemeClr val="dk1"/>
                </a:solidFill>
                <a:latin typeface="Roboto Medium"/>
                <a:sym typeface="Roboto Medium"/>
              </a:rPr>
              <a:t>Забегая вперёд, отвечу что </a:t>
            </a:r>
            <a:r>
              <a:rPr lang="en-US" sz="2000" dirty="0" smtClean="0">
                <a:solidFill>
                  <a:schemeClr val="dk1"/>
                </a:solidFill>
                <a:latin typeface="Roboto Medium"/>
                <a:sym typeface="Roboto Medium"/>
              </a:rPr>
              <a:t>under-</a:t>
            </a:r>
            <a:r>
              <a:rPr lang="en-US" sz="2000" dirty="0" err="1" smtClean="0">
                <a:solidFill>
                  <a:schemeClr val="dk1"/>
                </a:solidFill>
                <a:latin typeface="Roboto Medium"/>
                <a:sym typeface="Roboto Medium"/>
              </a:rPr>
              <a:t>bgp</a:t>
            </a:r>
            <a:r>
              <a:rPr lang="ru-RU" sz="2000" dirty="0" smtClean="0">
                <a:solidFill>
                  <a:schemeClr val="dk1"/>
                </a:solidFill>
                <a:latin typeface="Roboto Medium"/>
                <a:sym typeface="Roboto Medium"/>
              </a:rPr>
              <a:t> не удался (детали позже)</a:t>
            </a:r>
          </a:p>
        </p:txBody>
      </p:sp>
      <p:sp>
        <p:nvSpPr>
          <p:cNvPr id="11" name="Google Shape;368;p53"/>
          <p:cNvSpPr txBox="1"/>
          <p:nvPr/>
        </p:nvSpPr>
        <p:spPr>
          <a:xfrm>
            <a:off x="153511" y="3041111"/>
            <a:ext cx="8770231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Roboto Medium"/>
                <a:sym typeface="Roboto Medium"/>
              </a:rPr>
              <a:t>Вторым по очереди выбрал </a:t>
            </a:r>
            <a:r>
              <a:rPr lang="en-US" sz="1800" dirty="0" smtClean="0">
                <a:solidFill>
                  <a:schemeClr val="dk1"/>
                </a:solidFill>
                <a:latin typeface="Roboto Medium"/>
                <a:sym typeface="Roboto Medium"/>
              </a:rPr>
              <a:t>IS-IS </a:t>
            </a:r>
            <a:r>
              <a:rPr lang="ru-RU" sz="1800" dirty="0" smtClean="0">
                <a:solidFill>
                  <a:schemeClr val="dk1"/>
                </a:solidFill>
                <a:latin typeface="Roboto Medium"/>
                <a:sym typeface="Roboto Medium"/>
              </a:rPr>
              <a:t>т.к.</a:t>
            </a:r>
            <a:r>
              <a:rPr lang="en-US" sz="1800" dirty="0" smtClean="0">
                <a:solidFill>
                  <a:schemeClr val="dk1"/>
                </a:solidFill>
                <a:latin typeface="Roboto Medium"/>
                <a:sym typeface="Roboto Medium"/>
              </a:rPr>
              <a:t> </a:t>
            </a:r>
            <a:r>
              <a:rPr lang="ru-RU" sz="1800" dirty="0" smtClean="0">
                <a:solidFill>
                  <a:schemeClr val="dk1"/>
                </a:solidFill>
                <a:latin typeface="Roboto Medium"/>
                <a:sym typeface="Roboto Medium"/>
              </a:rPr>
              <a:t>в сравнении с похожим </a:t>
            </a:r>
            <a:r>
              <a:rPr lang="en-US" sz="1800" dirty="0" smtClean="0">
                <a:solidFill>
                  <a:schemeClr val="dk1"/>
                </a:solidFill>
                <a:latin typeface="Roboto Medium"/>
                <a:sym typeface="Roboto Medium"/>
              </a:rPr>
              <a:t>OSPF</a:t>
            </a:r>
            <a:r>
              <a:rPr lang="ru-RU" sz="1800" dirty="0" smtClean="0">
                <a:solidFill>
                  <a:schemeClr val="dk1"/>
                </a:solidFill>
                <a:latin typeface="Roboto Medium"/>
                <a:sym typeface="Roboto Medium"/>
              </a:rPr>
              <a:t>:</a:t>
            </a:r>
            <a:br>
              <a:rPr lang="ru-RU" sz="1800" dirty="0" smtClean="0">
                <a:solidFill>
                  <a:schemeClr val="dk1"/>
                </a:solidFill>
                <a:latin typeface="Roboto Medium"/>
                <a:sym typeface="Roboto Medium"/>
              </a:rPr>
            </a:br>
            <a:r>
              <a:rPr lang="ru-RU" sz="1200" b="1" dirty="0" smtClean="0">
                <a:solidFill>
                  <a:schemeClr val="dk1"/>
                </a:solidFill>
                <a:latin typeface="Roboto Medium"/>
                <a:sym typeface="Roboto Medium"/>
              </a:rPr>
              <a:t>+</a:t>
            </a:r>
            <a:r>
              <a:rPr lang="ru-RU" sz="1200" dirty="0">
                <a:solidFill>
                  <a:schemeClr val="dk1"/>
                </a:solidFill>
                <a:latin typeface="Roboto Medium"/>
                <a:sym typeface="Roboto Medium"/>
              </a:rPr>
              <a:t> </a:t>
            </a:r>
            <a:r>
              <a:rPr lang="ru-RU" sz="1200" dirty="0" smtClean="0">
                <a:solidFill>
                  <a:schemeClr val="dk1"/>
                </a:solidFill>
                <a:latin typeface="Roboto Medium"/>
                <a:sym typeface="Roboto Medium"/>
              </a:rPr>
              <a:t>Лучше масштабируется</a:t>
            </a:r>
            <a:br>
              <a:rPr lang="ru-RU" sz="1200" dirty="0" smtClean="0">
                <a:solidFill>
                  <a:schemeClr val="dk1"/>
                </a:solidFill>
                <a:latin typeface="Roboto Medium"/>
                <a:sym typeface="Roboto Medium"/>
              </a:rPr>
            </a:br>
            <a:r>
              <a:rPr lang="ru-RU" sz="1200" b="1" dirty="0" smtClean="0">
                <a:solidFill>
                  <a:schemeClr val="dk1"/>
                </a:solidFill>
                <a:latin typeface="Roboto Medium"/>
                <a:sym typeface="Roboto Medium"/>
              </a:rPr>
              <a:t>+</a:t>
            </a:r>
            <a:r>
              <a:rPr lang="ru-RU" sz="1200" dirty="0" smtClean="0">
                <a:solidFill>
                  <a:schemeClr val="dk1"/>
                </a:solidFill>
                <a:latin typeface="Roboto Medium"/>
                <a:sym typeface="Roboto Medium"/>
              </a:rPr>
              <a:t> Гибче иерархия (нет требования </a:t>
            </a:r>
            <a:r>
              <a:rPr lang="en-US" sz="1200" dirty="0" smtClean="0">
                <a:solidFill>
                  <a:schemeClr val="dk1"/>
                </a:solidFill>
                <a:latin typeface="Roboto Medium"/>
                <a:sym typeface="Roboto Medium"/>
              </a:rPr>
              <a:t>area 0</a:t>
            </a:r>
            <a:r>
              <a:rPr lang="ru-RU" sz="1200" dirty="0" smtClean="0">
                <a:solidFill>
                  <a:schemeClr val="dk1"/>
                </a:solidFill>
                <a:latin typeface="Roboto Medium"/>
                <a:sym typeface="Roboto Medium"/>
              </a:rPr>
              <a:t> + другие зоны)</a:t>
            </a:r>
            <a:br>
              <a:rPr lang="ru-RU" sz="1200" dirty="0" smtClean="0">
                <a:solidFill>
                  <a:schemeClr val="dk1"/>
                </a:solidFill>
                <a:latin typeface="Roboto Medium"/>
                <a:sym typeface="Roboto Medium"/>
              </a:rPr>
            </a:br>
            <a:r>
              <a:rPr lang="ru-RU" sz="1200" b="1" dirty="0" smtClean="0">
                <a:solidFill>
                  <a:schemeClr val="dk1"/>
                </a:solidFill>
                <a:latin typeface="Roboto Medium"/>
                <a:sym typeface="Roboto Medium"/>
              </a:rPr>
              <a:t>+</a:t>
            </a:r>
            <a:r>
              <a:rPr lang="ru-RU" sz="1200" dirty="0" smtClean="0">
                <a:solidFill>
                  <a:schemeClr val="dk1"/>
                </a:solidFill>
                <a:latin typeface="Roboto Medium"/>
                <a:sym typeface="Roboto Medium"/>
              </a:rPr>
              <a:t> Меньше служебного трафика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200" b="1" dirty="0" smtClean="0">
              <a:solidFill>
                <a:schemeClr val="dk1"/>
              </a:solidFill>
              <a:latin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 smtClean="0">
                <a:solidFill>
                  <a:schemeClr val="dk1"/>
                </a:solidFill>
                <a:latin typeface="Roboto Medium"/>
                <a:sym typeface="Roboto Medium"/>
              </a:rPr>
              <a:t>-</a:t>
            </a:r>
            <a:r>
              <a:rPr lang="ru-RU" sz="1200" dirty="0" smtClean="0">
                <a:solidFill>
                  <a:schemeClr val="dk1"/>
                </a:solidFill>
                <a:latin typeface="Roboto Medium"/>
                <a:sym typeface="Roboto Medium"/>
              </a:rPr>
              <a:t> Сложнее настроить и немного прожорливее</a:t>
            </a:r>
            <a:endParaRPr sz="1200" dirty="0"/>
          </a:p>
        </p:txBody>
      </p:sp>
      <p:sp>
        <p:nvSpPr>
          <p:cNvPr id="12" name="Google Shape;172;p38">
            <a:extLst>
              <a:ext uri="{FF2B5EF4-FFF2-40B4-BE49-F238E27FC236}">
                <a16:creationId xmlns:a16="http://schemas.microsoft.com/office/drawing/2014/main" id="{4558C006-18D9-4011-911C-2473CC233C07}"/>
              </a:ext>
            </a:extLst>
          </p:cNvPr>
          <p:cNvSpPr/>
          <p:nvPr/>
        </p:nvSpPr>
        <p:spPr>
          <a:xfrm>
            <a:off x="0" y="4921624"/>
            <a:ext cx="2918012" cy="2218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 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94" y="964063"/>
            <a:ext cx="5499190" cy="2115145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4279570" y="1002351"/>
            <a:ext cx="1323833" cy="201438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EE8ED60-EEDD-4FC5-A04B-A9D21B1A929F}"/>
              </a:ext>
            </a:extLst>
          </p:cNvPr>
          <p:cNvSpPr/>
          <p:nvPr/>
        </p:nvSpPr>
        <p:spPr>
          <a:xfrm>
            <a:off x="5910603" y="4767735"/>
            <a:ext cx="23342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Напланировали</a:t>
            </a: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а теперь</a:t>
            </a:r>
            <a:endParaRPr lang="ru-RU" dirty="0"/>
          </a:p>
        </p:txBody>
      </p:sp>
      <p:pic>
        <p:nvPicPr>
          <p:cNvPr id="15" name="Picture 2" descr="Picture background">
            <a:extLst>
              <a:ext uri="{FF2B5EF4-FFF2-40B4-BE49-F238E27FC236}">
                <a16:creationId xmlns:a16="http://schemas.microsoft.com/office/drawing/2014/main" id="{42D0838C-CBE7-48C7-BABF-452B4C56B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652" y="4383742"/>
            <a:ext cx="553900" cy="64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1891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309693" cy="5144540"/>
          </a:xfrm>
          <a:prstGeom prst="rect">
            <a:avLst/>
          </a:prstGeom>
        </p:spPr>
      </p:pic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200198" y="284001"/>
            <a:ext cx="8109495" cy="15915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 smtClean="0"/>
              <a:t>Выполняемые работы</a:t>
            </a:r>
            <a:br>
              <a:rPr lang="ru-RU" sz="3000" dirty="0" smtClean="0"/>
            </a:br>
            <a:r>
              <a:rPr lang="ru-RU" sz="2000" dirty="0" smtClean="0"/>
              <a:t>1. Строим физику</a:t>
            </a:r>
            <a:br>
              <a:rPr lang="ru-RU" sz="2000" dirty="0" smtClean="0"/>
            </a:br>
            <a: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  <a:t>2. Планируем адресацию</a:t>
            </a:r>
            <a:b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</a:br>
            <a: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  <a:t>3. Распределяем роли</a:t>
            </a:r>
            <a:r>
              <a:rPr lang="en-US" sz="1000" dirty="0" smtClean="0">
                <a:solidFill>
                  <a:schemeClr val="bg1">
                    <a:lumMod val="75000"/>
                  </a:schemeClr>
                </a:solidFill>
              </a:rPr>
              <a:t/>
            </a:r>
            <a:br>
              <a:rPr lang="en-US" sz="1000" dirty="0" smtClean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1000" dirty="0" smtClean="0">
                <a:solidFill>
                  <a:schemeClr val="bg1">
                    <a:lumMod val="75000"/>
                  </a:schemeClr>
                </a:solidFill>
              </a:rPr>
              <a:t>4</a:t>
            </a:r>
            <a: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  <a:t>. Настраиваем</a:t>
            </a:r>
            <a:endParaRPr sz="3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00198" y="3535588"/>
            <a:ext cx="2420856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Соблюдаем условия: </a:t>
            </a:r>
            <a:br>
              <a:rPr lang="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Отказоустойчивость</a:t>
            </a:r>
            <a:b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dirty="0" smtClean="0">
                <a:solidFill>
                  <a:schemeClr val="bg1">
                    <a:lumMod val="8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</a:t>
            </a: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Только </a:t>
            </a:r>
            <a:r>
              <a:rPr lang="en-US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Arista (</a:t>
            </a:r>
            <a:r>
              <a:rPr lang="en-US" dirty="0" err="1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vEOS</a:t>
            </a:r>
            <a:r>
              <a:rPr lang="en-US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-Lab)</a:t>
            </a:r>
            <a: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-US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Среда </a:t>
            </a:r>
            <a:r>
              <a:rPr lang="en-US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EVE-NG</a:t>
            </a:r>
            <a: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 </a:t>
            </a:r>
            <a:r>
              <a:rPr lang="en-US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CLOS</a:t>
            </a:r>
            <a:endParaRPr lang="ru-RU" dirty="0"/>
          </a:p>
        </p:txBody>
      </p:sp>
      <p:sp>
        <p:nvSpPr>
          <p:cNvPr id="12" name="Google Shape;172;p38">
            <a:extLst>
              <a:ext uri="{FF2B5EF4-FFF2-40B4-BE49-F238E27FC236}">
                <a16:creationId xmlns:a16="http://schemas.microsoft.com/office/drawing/2014/main" id="{4558C006-18D9-4011-911C-2473CC233C07}"/>
              </a:ext>
            </a:extLst>
          </p:cNvPr>
          <p:cNvSpPr/>
          <p:nvPr/>
        </p:nvSpPr>
        <p:spPr>
          <a:xfrm>
            <a:off x="200198" y="4920583"/>
            <a:ext cx="2918012" cy="2218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 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296160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40"/>
            <a:ext cx="8289670" cy="5144540"/>
          </a:xfrm>
          <a:prstGeom prst="rect">
            <a:avLst/>
          </a:prstGeom>
        </p:spPr>
      </p:pic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200198" y="284001"/>
            <a:ext cx="8089472" cy="1471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 smtClean="0"/>
              <a:t>Выполняемые работы</a:t>
            </a:r>
            <a:br>
              <a:rPr lang="ru-RU" sz="3000" dirty="0" smtClean="0"/>
            </a:br>
            <a: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  <a:t>1. Строим физику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2. Планируем адресацию (первая часть)</a:t>
            </a:r>
            <a:br>
              <a:rPr lang="ru-RU" sz="2000" dirty="0" smtClean="0"/>
            </a:br>
            <a:r>
              <a:rPr lang="ru-RU" sz="2000" dirty="0" smtClean="0"/>
              <a:t>3. Определяемся с ролями узлов</a:t>
            </a:r>
            <a:br>
              <a:rPr lang="ru-RU" sz="2000" dirty="0" smtClean="0"/>
            </a:br>
            <a:r>
              <a:rPr lang="en-US" sz="1000" dirty="0">
                <a:solidFill>
                  <a:schemeClr val="bg1">
                    <a:lumMod val="75000"/>
                  </a:schemeClr>
                </a:solidFill>
              </a:rPr>
              <a:t>4</a:t>
            </a:r>
            <a:r>
              <a:rPr lang="ru-RU" sz="1000" dirty="0">
                <a:solidFill>
                  <a:schemeClr val="bg1">
                    <a:lumMod val="75000"/>
                  </a:schemeClr>
                </a:solidFill>
              </a:rPr>
              <a:t>. Настраиваем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409142" y="4147340"/>
            <a:ext cx="246573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dk1"/>
                </a:solidFill>
                <a:latin typeface="Roboto"/>
                <a:sym typeface="Roboto"/>
              </a:rPr>
              <a:t>Underlay</a:t>
            </a:r>
            <a:r>
              <a:rPr lang="en-US" sz="1200" dirty="0" smtClean="0">
                <a:solidFill>
                  <a:schemeClr val="dk1"/>
                </a:solidFill>
                <a:latin typeface="Roboto"/>
                <a:sym typeface="Roboto"/>
              </a:rPr>
              <a:t/>
            </a:r>
            <a:br>
              <a:rPr lang="en-US" sz="1200" dirty="0" smtClean="0">
                <a:solidFill>
                  <a:schemeClr val="dk1"/>
                </a:solidFill>
                <a:latin typeface="Roboto"/>
                <a:sym typeface="Roboto"/>
              </a:rPr>
            </a:br>
            <a:r>
              <a:rPr lang="ru-RU" sz="1200" dirty="0" smtClean="0">
                <a:solidFill>
                  <a:schemeClr val="dk1"/>
                </a:solidFill>
                <a:latin typeface="Roboto"/>
                <a:sym typeface="Roboto"/>
              </a:rPr>
              <a:t>Все </a:t>
            </a:r>
            <a:r>
              <a:rPr lang="en-US" sz="1200" dirty="0" smtClean="0">
                <a:solidFill>
                  <a:schemeClr val="dk1"/>
                </a:solidFill>
                <a:latin typeface="Roboto"/>
                <a:sym typeface="Roboto"/>
              </a:rPr>
              <a:t>Lo </a:t>
            </a:r>
            <a:r>
              <a:rPr lang="ru-RU" sz="1200" dirty="0" smtClean="0">
                <a:solidFill>
                  <a:schemeClr val="dk1"/>
                </a:solidFill>
                <a:latin typeface="Roboto"/>
                <a:sym typeface="Roboto"/>
              </a:rPr>
              <a:t>в 10.0.0.0</a:t>
            </a:r>
            <a:r>
              <a:rPr lang="en-US" sz="1200" dirty="0" smtClean="0">
                <a:solidFill>
                  <a:schemeClr val="dk1"/>
                </a:solidFill>
                <a:latin typeface="Roboto"/>
                <a:sym typeface="Roboto"/>
              </a:rPr>
              <a:t>/24</a:t>
            </a:r>
            <a:r>
              <a:rPr lang="ru-RU" sz="1200" dirty="0" smtClean="0">
                <a:solidFill>
                  <a:schemeClr val="dk1"/>
                </a:solidFill>
                <a:latin typeface="Roboto"/>
                <a:sym typeface="Roboto"/>
              </a:rPr>
              <a:t> каждый /32</a:t>
            </a:r>
            <a:r>
              <a:rPr lang="en-US" sz="1200" dirty="0" smtClean="0">
                <a:solidFill>
                  <a:schemeClr val="dk1"/>
                </a:solidFill>
                <a:latin typeface="Roboto"/>
                <a:sym typeface="Roboto"/>
              </a:rPr>
              <a:t/>
            </a:r>
            <a:br>
              <a:rPr lang="en-US" sz="1200" dirty="0" smtClean="0">
                <a:solidFill>
                  <a:schemeClr val="dk1"/>
                </a:solidFill>
                <a:latin typeface="Roboto"/>
                <a:sym typeface="Roboto"/>
              </a:rPr>
            </a:br>
            <a:r>
              <a:rPr lang="ru-RU" sz="1200" dirty="0" smtClean="0">
                <a:solidFill>
                  <a:schemeClr val="dk1"/>
                </a:solidFill>
                <a:latin typeface="Roboto"/>
                <a:sym typeface="Roboto"/>
              </a:rPr>
              <a:t>Все </a:t>
            </a:r>
            <a:r>
              <a:rPr lang="en-US" sz="1200" dirty="0" smtClean="0">
                <a:solidFill>
                  <a:schemeClr val="dk1"/>
                </a:solidFill>
                <a:latin typeface="Roboto"/>
                <a:sym typeface="Roboto"/>
              </a:rPr>
              <a:t>P2P-</a:t>
            </a:r>
            <a:r>
              <a:rPr lang="ru-RU" sz="1200" dirty="0" err="1" smtClean="0">
                <a:solidFill>
                  <a:schemeClr val="dk1"/>
                </a:solidFill>
                <a:latin typeface="Roboto"/>
                <a:sym typeface="Roboto"/>
              </a:rPr>
              <a:t>линки</a:t>
            </a:r>
            <a:r>
              <a:rPr lang="en-US" sz="1200" dirty="0" smtClean="0">
                <a:solidFill>
                  <a:schemeClr val="dk1"/>
                </a:solidFill>
                <a:latin typeface="Roboto"/>
                <a:sym typeface="Roboto"/>
              </a:rPr>
              <a:t> </a:t>
            </a:r>
            <a:r>
              <a:rPr lang="ru-RU" sz="1200" dirty="0" smtClean="0">
                <a:solidFill>
                  <a:schemeClr val="dk1"/>
                </a:solidFill>
                <a:latin typeface="Roboto"/>
                <a:sym typeface="Roboto"/>
              </a:rPr>
              <a:t>в 172.16-18.* </a:t>
            </a:r>
            <a:r>
              <a:rPr lang="en-US" sz="1200" dirty="0" smtClean="0">
                <a:solidFill>
                  <a:schemeClr val="dk1"/>
                </a:solidFill>
                <a:latin typeface="Roboto"/>
                <a:sym typeface="Roboto"/>
              </a:rPr>
              <a:t>/31</a:t>
            </a:r>
          </a:p>
          <a:p>
            <a:pPr algn="ctr"/>
            <a:r>
              <a:rPr lang="en-US" sz="1200" dirty="0" err="1">
                <a:solidFill>
                  <a:schemeClr val="dk1"/>
                </a:solidFill>
                <a:latin typeface="Roboto"/>
                <a:sym typeface="Roboto"/>
              </a:rPr>
              <a:t>Vlan</a:t>
            </a:r>
            <a:r>
              <a:rPr lang="ru-RU" sz="1200" dirty="0">
                <a:solidFill>
                  <a:schemeClr val="dk1"/>
                </a:solidFill>
                <a:latin typeface="Roboto"/>
                <a:sym typeface="Roboto"/>
              </a:rPr>
              <a:t> 4094</a:t>
            </a:r>
            <a:r>
              <a:rPr lang="en-US" sz="1200" dirty="0">
                <a:solidFill>
                  <a:schemeClr val="dk1"/>
                </a:solidFill>
                <a:latin typeface="Roboto"/>
                <a:sym typeface="Roboto"/>
              </a:rPr>
              <a:t> MLAG </a:t>
            </a:r>
            <a:r>
              <a:rPr lang="en-US" sz="1200" dirty="0" smtClean="0">
                <a:solidFill>
                  <a:schemeClr val="dk1"/>
                </a:solidFill>
                <a:latin typeface="Roboto"/>
                <a:sym typeface="Roboto"/>
              </a:rPr>
              <a:t>10.0.0.1-6/30    </a:t>
            </a:r>
            <a:endParaRPr lang="ru-RU" sz="1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6803" y="3658042"/>
            <a:ext cx="11657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L-A1:</a:t>
            </a:r>
            <a:b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 10.0.0.11/32</a:t>
            </a:r>
          </a:p>
          <a:p>
            <a:r>
              <a:rPr lang="en-US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 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172.16.1.1/31</a:t>
            </a:r>
            <a:endParaRPr lang="ru-RU" sz="900" dirty="0"/>
          </a:p>
          <a:p>
            <a:endParaRPr lang="ru-RU" sz="9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226295" y="3667639"/>
            <a:ext cx="11657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L-A2:</a:t>
            </a:r>
            <a:b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 10.0.0.12/32</a:t>
            </a:r>
            <a:endParaRPr lang="ru-RU" sz="900" dirty="0" smtClean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r"/>
            <a:r>
              <a:rPr lang="en-US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 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172.16.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/31</a:t>
            </a:r>
            <a:endParaRPr lang="ru-RU" sz="900" dirty="0"/>
          </a:p>
          <a:p>
            <a:pPr algn="r"/>
            <a:endParaRPr lang="ru-RU" sz="9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46803" y="2709157"/>
            <a:ext cx="133241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S-A1:</a:t>
            </a:r>
            <a:b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 10.0.0.21/32</a:t>
            </a:r>
            <a:b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 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172.</a:t>
            </a:r>
            <a:r>
              <a:rPr lang="en-US" sz="9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  <a:r>
              <a:rPr lang="ru-RU" sz="9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-17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0/31</a:t>
            </a:r>
            <a:endParaRPr lang="ru-RU" sz="9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275836" y="2712682"/>
            <a:ext cx="13709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S-A2:</a:t>
            </a:r>
            <a:b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 10.0.0.22/32</a:t>
            </a:r>
            <a:endParaRPr lang="ru-RU" sz="900" dirty="0" smtClean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r"/>
            <a:r>
              <a:rPr lang="en-US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 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172.</a:t>
            </a:r>
            <a:r>
              <a:rPr lang="en-US" sz="9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  <a:r>
              <a:rPr lang="ru-RU" sz="9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-17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.0/31</a:t>
            </a:r>
            <a:endParaRPr lang="ru-RU" sz="900" dirty="0"/>
          </a:p>
          <a:p>
            <a:pPr algn="r"/>
            <a:endParaRPr lang="ru-RU" sz="9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126996" y="1830874"/>
            <a:ext cx="12683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S-S-A1:</a:t>
            </a:r>
            <a:b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 10.0.0.31/32</a:t>
            </a:r>
            <a:endParaRPr lang="ru-RU" sz="900" dirty="0" smtClean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r"/>
            <a:r>
              <a:rPr lang="en-US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 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172.1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-US" sz="9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ru-RU" sz="9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-4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.0/31</a:t>
            </a:r>
            <a:endParaRPr lang="ru-RU" sz="900" dirty="0"/>
          </a:p>
          <a:p>
            <a:pPr algn="r"/>
            <a:endParaRPr lang="ru-RU" sz="9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6891961" y="3655587"/>
            <a:ext cx="11657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L-B1:</a:t>
            </a:r>
            <a:b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 10.0.0.51/32</a:t>
            </a:r>
            <a:endParaRPr lang="ru-RU" sz="900" dirty="0" smtClean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r>
              <a:rPr lang="en-US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 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172.1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.1.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/31</a:t>
            </a:r>
            <a:endParaRPr lang="ru-RU" sz="900" dirty="0"/>
          </a:p>
          <a:p>
            <a:endParaRPr lang="ru-RU" sz="900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7991305" y="3667639"/>
            <a:ext cx="11657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L-B2:</a:t>
            </a:r>
            <a:b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 10.0.0.52/32</a:t>
            </a:r>
            <a:endParaRPr lang="ru-RU" sz="900" dirty="0" smtClean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r"/>
            <a:r>
              <a:rPr lang="en-US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 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172.1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/31</a:t>
            </a:r>
            <a:endParaRPr lang="ru-RU" sz="900" dirty="0"/>
          </a:p>
          <a:p>
            <a:pPr algn="r"/>
            <a:endParaRPr lang="ru-RU" sz="90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6613319" y="2721209"/>
            <a:ext cx="13324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S-B1:</a:t>
            </a:r>
            <a:b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 10.0.0.41/32</a:t>
            </a:r>
            <a:endParaRPr lang="ru-RU" sz="900" dirty="0" smtClean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r>
              <a:rPr lang="en-US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 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172.</a:t>
            </a:r>
            <a:r>
              <a:rPr lang="ru-RU" sz="9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17-</a:t>
            </a:r>
            <a:r>
              <a:rPr lang="en-US" sz="9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ru-RU" sz="9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.1.0/31</a:t>
            </a:r>
            <a:endParaRPr lang="ru-RU" sz="900" dirty="0"/>
          </a:p>
          <a:p>
            <a:endParaRPr lang="ru-RU" sz="900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7862377" y="2733887"/>
            <a:ext cx="13324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S-B2:</a:t>
            </a:r>
            <a:b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 10.0.0.42/32</a:t>
            </a:r>
            <a:endParaRPr lang="ru-RU" sz="900" dirty="0" smtClean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r"/>
            <a:r>
              <a:rPr lang="en-US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 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172.</a:t>
            </a:r>
            <a:r>
              <a:rPr lang="ru-RU" sz="9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17-</a:t>
            </a:r>
            <a:r>
              <a:rPr lang="en-US" sz="9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ru-RU" sz="9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.0/31</a:t>
            </a:r>
            <a:endParaRPr lang="ru-RU" sz="900" dirty="0"/>
          </a:p>
          <a:p>
            <a:pPr algn="r"/>
            <a:endParaRPr lang="ru-RU" sz="900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6891961" y="1748220"/>
            <a:ext cx="126829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S-S-B1:</a:t>
            </a:r>
            <a:b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 10.0.0.32/32</a:t>
            </a:r>
            <a:endParaRPr lang="ru-RU" sz="900" dirty="0" smtClean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r>
              <a:rPr lang="en-US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Peer 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172.1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sz="9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5-8</a:t>
            </a:r>
            <a:r>
              <a:rPr lang="en-US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.0/31</a:t>
            </a:r>
            <a:endParaRPr lang="ru-RU" sz="900" dirty="0"/>
          </a:p>
        </p:txBody>
      </p:sp>
      <p:sp>
        <p:nvSpPr>
          <p:cNvPr id="22" name="Google Shape;172;p38">
            <a:extLst>
              <a:ext uri="{FF2B5EF4-FFF2-40B4-BE49-F238E27FC236}">
                <a16:creationId xmlns:a16="http://schemas.microsoft.com/office/drawing/2014/main" id="{4558C006-18D9-4011-911C-2473CC233C07}"/>
              </a:ext>
            </a:extLst>
          </p:cNvPr>
          <p:cNvSpPr/>
          <p:nvPr/>
        </p:nvSpPr>
        <p:spPr>
          <a:xfrm>
            <a:off x="200198" y="4921625"/>
            <a:ext cx="2918012" cy="2218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 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2755526" y="1471253"/>
            <a:ext cx="11690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POD-A und:</a:t>
            </a:r>
            <a:br>
              <a:rPr lang="en-US" sz="10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0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172.</a:t>
            </a:r>
            <a:r>
              <a:rPr lang="en-US" sz="10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  <a:r>
              <a:rPr lang="ru-RU" sz="10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-17</a:t>
            </a:r>
            <a:r>
              <a:rPr lang="en-US" sz="10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.0.0/16</a:t>
            </a:r>
            <a:endParaRPr lang="ru-RU" sz="1000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5390822" y="1436768"/>
            <a:ext cx="11690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POD-B und:</a:t>
            </a:r>
            <a:br>
              <a:rPr lang="en-US" sz="10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0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172.</a:t>
            </a:r>
            <a:r>
              <a:rPr lang="en-US" sz="10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ru-RU" sz="10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7-18</a:t>
            </a:r>
            <a:r>
              <a:rPr lang="en-US" sz="10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.0.0/16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2943644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40"/>
            <a:ext cx="8303019" cy="5144540"/>
          </a:xfrm>
          <a:prstGeom prst="rect">
            <a:avLst/>
          </a:prstGeom>
        </p:spPr>
      </p:pic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200198" y="284001"/>
            <a:ext cx="8102821" cy="1471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 smtClean="0"/>
              <a:t>Выполняемые работы</a:t>
            </a:r>
            <a:br>
              <a:rPr lang="ru-RU" sz="3000" dirty="0" smtClean="0"/>
            </a:br>
            <a: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  <a:t>1. Строим физику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2. Планируем адресацию</a:t>
            </a:r>
            <a:r>
              <a:rPr lang="ru-RU" sz="2000" dirty="0"/>
              <a:t> </a:t>
            </a:r>
            <a:r>
              <a:rPr lang="ru-RU" sz="2000" dirty="0" smtClean="0"/>
              <a:t>(вторая </a:t>
            </a:r>
            <a:r>
              <a:rPr lang="ru-RU" sz="2000" dirty="0"/>
              <a:t>часть)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3. Определяемся с ролями узлов</a:t>
            </a:r>
            <a:br>
              <a:rPr lang="ru-RU" sz="2000" dirty="0" smtClean="0"/>
            </a:br>
            <a:r>
              <a:rPr lang="en-US" sz="1000" dirty="0">
                <a:solidFill>
                  <a:schemeClr val="bg1">
                    <a:lumMod val="75000"/>
                  </a:schemeClr>
                </a:solidFill>
              </a:rPr>
              <a:t>4</a:t>
            </a:r>
            <a:r>
              <a:rPr lang="ru-RU" sz="1000" dirty="0">
                <a:solidFill>
                  <a:schemeClr val="bg1">
                    <a:lumMod val="75000"/>
                  </a:schemeClr>
                </a:solidFill>
              </a:rPr>
              <a:t>. Настраиваем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549035" y="4187465"/>
            <a:ext cx="23439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dk1"/>
                </a:solidFill>
                <a:latin typeface="Roboto"/>
                <a:sym typeface="Roboto"/>
              </a:rPr>
              <a:t>Overlay     </a:t>
            </a:r>
            <a:r>
              <a:rPr lang="en-US" sz="1200" dirty="0" smtClean="0">
                <a:solidFill>
                  <a:schemeClr val="dk1"/>
                </a:solidFill>
                <a:latin typeface="Roboto"/>
                <a:sym typeface="Roboto"/>
              </a:rPr>
              <a:t/>
            </a:r>
            <a:br>
              <a:rPr lang="en-US" sz="1200" dirty="0" smtClean="0">
                <a:solidFill>
                  <a:schemeClr val="dk1"/>
                </a:solidFill>
                <a:latin typeface="Roboto"/>
                <a:sym typeface="Roboto"/>
              </a:rPr>
            </a:br>
            <a:r>
              <a:rPr lang="en-US" sz="1200" dirty="0">
                <a:solidFill>
                  <a:schemeClr val="dk1"/>
                </a:solidFill>
                <a:latin typeface="Roboto"/>
                <a:sym typeface="Roboto"/>
              </a:rPr>
              <a:t>Vlan10 </a:t>
            </a:r>
            <a:r>
              <a:rPr lang="en-US" sz="1200" dirty="0" smtClean="0">
                <a:solidFill>
                  <a:schemeClr val="dk1"/>
                </a:solidFill>
                <a:latin typeface="Roboto"/>
                <a:sym typeface="Roboto"/>
              </a:rPr>
              <a:t>Host-192.168.10.0/24    </a:t>
            </a:r>
            <a:br>
              <a:rPr lang="en-US" sz="1200" dirty="0" smtClean="0">
                <a:solidFill>
                  <a:schemeClr val="dk1"/>
                </a:solidFill>
                <a:latin typeface="Roboto"/>
                <a:sym typeface="Roboto"/>
              </a:rPr>
            </a:br>
            <a:endParaRPr lang="ru-RU" sz="1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00198" y="1782304"/>
            <a:ext cx="2725426" cy="29700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00" dirty="0" smtClean="0">
                <a:solidFill>
                  <a:schemeClr val="dk1"/>
                </a:solidFill>
                <a:latin typeface="Roboto"/>
                <a:sym typeface="Roboto"/>
              </a:rPr>
              <a:t>Оверлейная адресация</a:t>
            </a:r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/>
            </a:r>
            <a:b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</a:br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/>
            </a:r>
            <a:b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</a:br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VNI 100</a:t>
            </a:r>
            <a:r>
              <a:rPr lang="ru-RU" sz="1100" dirty="0" smtClean="0">
                <a:solidFill>
                  <a:schemeClr val="dk1"/>
                </a:solidFill>
                <a:latin typeface="Roboto"/>
                <a:sym typeface="Roboto"/>
              </a:rPr>
              <a:t>1</a:t>
            </a:r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0 </a:t>
            </a:r>
            <a:r>
              <a:rPr lang="ru-RU" sz="1100" dirty="0" smtClean="0">
                <a:solidFill>
                  <a:schemeClr val="dk1"/>
                </a:solidFill>
                <a:latin typeface="Roboto"/>
                <a:sym typeface="Roboto"/>
              </a:rPr>
              <a:t>(</a:t>
            </a:r>
            <a:r>
              <a:rPr lang="ru-RU" sz="1100" dirty="0" err="1" smtClean="0">
                <a:solidFill>
                  <a:schemeClr val="dk1"/>
                </a:solidFill>
                <a:latin typeface="Roboto"/>
                <a:sym typeface="Roboto"/>
              </a:rPr>
              <a:t>типо</a:t>
            </a:r>
            <a:r>
              <a:rPr lang="ru-RU" sz="1100" dirty="0" smtClean="0">
                <a:solidFill>
                  <a:schemeClr val="dk1"/>
                </a:solidFill>
                <a:latin typeface="Roboto"/>
                <a:sym typeface="Roboto"/>
              </a:rPr>
              <a:t> </a:t>
            </a:r>
            <a:r>
              <a:rPr lang="en-US" sz="1100" dirty="0" err="1" smtClean="0">
                <a:solidFill>
                  <a:schemeClr val="dk1"/>
                </a:solidFill>
                <a:latin typeface="Roboto"/>
                <a:sym typeface="Roboto"/>
              </a:rPr>
              <a:t>vni</a:t>
            </a:r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 10000 + vlan10</a:t>
            </a:r>
            <a:r>
              <a:rPr lang="ru-RU" sz="1100" dirty="0" smtClean="0">
                <a:solidFill>
                  <a:schemeClr val="dk1"/>
                </a:solidFill>
                <a:latin typeface="Roboto"/>
                <a:sym typeface="Roboto"/>
              </a:rPr>
              <a:t>)</a:t>
            </a:r>
            <a:endParaRPr lang="en-US" sz="1100" dirty="0" smtClean="0">
              <a:solidFill>
                <a:schemeClr val="dk1"/>
              </a:solidFill>
              <a:latin typeface="Roboto"/>
              <a:sym typeface="Roboto"/>
            </a:endParaRPr>
          </a:p>
          <a:p>
            <a:endParaRPr lang="ru-RU" sz="1100" dirty="0" smtClean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VTEP L-A1 10.0.0.11</a:t>
            </a:r>
            <a:b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</a:br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VTEP </a:t>
            </a:r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L-A2 10.0.0.12</a:t>
            </a:r>
            <a:endParaRPr lang="en-US" sz="1100" dirty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Flood VTEP ALL</a:t>
            </a:r>
          </a:p>
          <a:p>
            <a:endParaRPr lang="en-US" sz="1100" dirty="0" smtClean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AS L 65001</a:t>
            </a:r>
          </a:p>
          <a:p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RR L-A1 10.0.0.11</a:t>
            </a:r>
            <a:b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</a:br>
            <a:endParaRPr lang="en-US" sz="1100" dirty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1100" dirty="0" err="1">
                <a:solidFill>
                  <a:schemeClr val="dk1"/>
                </a:solidFill>
                <a:latin typeface="Roboto"/>
                <a:sym typeface="Roboto"/>
              </a:rPr>
              <a:t>Anycast</a:t>
            </a:r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 GW 192.168.10.254 /24</a:t>
            </a:r>
          </a:p>
          <a:p>
            <a:r>
              <a:rPr lang="en-US" sz="1100" dirty="0" err="1">
                <a:solidFill>
                  <a:schemeClr val="dk1"/>
                </a:solidFill>
                <a:latin typeface="Roboto"/>
                <a:sym typeface="Roboto"/>
              </a:rPr>
              <a:t>Anycast</a:t>
            </a:r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Roboto"/>
                <a:sym typeface="Roboto"/>
              </a:rPr>
              <a:t>vIP</a:t>
            </a:r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 (MLAG) 192.168.10.1</a:t>
            </a:r>
          </a:p>
          <a:p>
            <a:r>
              <a:rPr lang="en-US" sz="1100" dirty="0" err="1">
                <a:solidFill>
                  <a:schemeClr val="dk1"/>
                </a:solidFill>
                <a:latin typeface="Roboto"/>
                <a:sym typeface="Roboto"/>
              </a:rPr>
              <a:t>Anycast</a:t>
            </a:r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 MAC (MLAG) 0000.1111.2222</a:t>
            </a:r>
            <a:endParaRPr lang="ru-RU" sz="1100" dirty="0"/>
          </a:p>
          <a:p>
            <a:endParaRPr lang="en-US" sz="1100" dirty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Host-A 192.168.10.10 /24 (k8s - </a:t>
            </a:r>
            <a:r>
              <a:rPr lang="en-US" sz="1100" b="1" dirty="0">
                <a:solidFill>
                  <a:schemeClr val="dk1"/>
                </a:solidFill>
                <a:latin typeface="Roboto"/>
                <a:sym typeface="Roboto"/>
              </a:rPr>
              <a:t>master</a:t>
            </a:r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)</a:t>
            </a:r>
          </a:p>
          <a:p>
            <a:endParaRPr lang="ru-RU" sz="1100" dirty="0">
              <a:solidFill>
                <a:schemeClr val="dk1"/>
              </a:solidFill>
              <a:latin typeface="Roboto"/>
              <a:sym typeface="Roboto"/>
            </a:endParaRPr>
          </a:p>
        </p:txBody>
      </p:sp>
      <p:sp>
        <p:nvSpPr>
          <p:cNvPr id="9" name="Google Shape;172;p38">
            <a:extLst>
              <a:ext uri="{FF2B5EF4-FFF2-40B4-BE49-F238E27FC236}">
                <a16:creationId xmlns:a16="http://schemas.microsoft.com/office/drawing/2014/main" id="{4558C006-18D9-4011-911C-2473CC233C07}"/>
              </a:ext>
            </a:extLst>
          </p:cNvPr>
          <p:cNvSpPr/>
          <p:nvPr/>
        </p:nvSpPr>
        <p:spPr>
          <a:xfrm>
            <a:off x="200198" y="4921625"/>
            <a:ext cx="2918012" cy="2218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 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516358" y="1782304"/>
            <a:ext cx="2627642" cy="29700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00" dirty="0" smtClean="0">
                <a:solidFill>
                  <a:schemeClr val="dk1"/>
                </a:solidFill>
                <a:latin typeface="Roboto"/>
                <a:sym typeface="Roboto"/>
              </a:rPr>
              <a:t>Оверлейная адресация</a:t>
            </a:r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/>
            </a:r>
            <a:b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</a:br>
            <a:endParaRPr lang="en-US" sz="1100" dirty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VNI 100</a:t>
            </a:r>
            <a:r>
              <a:rPr lang="ru-RU" sz="1100" dirty="0" smtClean="0">
                <a:solidFill>
                  <a:schemeClr val="dk1"/>
                </a:solidFill>
                <a:latin typeface="Roboto"/>
                <a:sym typeface="Roboto"/>
              </a:rPr>
              <a:t>1</a:t>
            </a:r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0 </a:t>
            </a:r>
            <a:r>
              <a:rPr lang="ru-RU" sz="1100" dirty="0" smtClean="0">
                <a:solidFill>
                  <a:schemeClr val="dk1"/>
                </a:solidFill>
                <a:latin typeface="Roboto"/>
                <a:sym typeface="Roboto"/>
              </a:rPr>
              <a:t>(</a:t>
            </a:r>
            <a:r>
              <a:rPr lang="ru-RU" sz="1100" dirty="0" err="1" smtClean="0">
                <a:solidFill>
                  <a:schemeClr val="dk1"/>
                </a:solidFill>
                <a:latin typeface="Roboto"/>
                <a:sym typeface="Roboto"/>
              </a:rPr>
              <a:t>типо</a:t>
            </a:r>
            <a:r>
              <a:rPr lang="ru-RU" sz="1100" dirty="0" smtClean="0">
                <a:solidFill>
                  <a:schemeClr val="dk1"/>
                </a:solidFill>
                <a:latin typeface="Roboto"/>
                <a:sym typeface="Roboto"/>
              </a:rPr>
              <a:t> </a:t>
            </a:r>
            <a:r>
              <a:rPr lang="en-US" sz="1100" dirty="0" err="1" smtClean="0">
                <a:solidFill>
                  <a:schemeClr val="dk1"/>
                </a:solidFill>
                <a:latin typeface="Roboto"/>
                <a:sym typeface="Roboto"/>
              </a:rPr>
              <a:t>vni</a:t>
            </a:r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 10000 + vlan10</a:t>
            </a:r>
            <a:r>
              <a:rPr lang="ru-RU" sz="1100" dirty="0" smtClean="0">
                <a:solidFill>
                  <a:schemeClr val="dk1"/>
                </a:solidFill>
                <a:latin typeface="Roboto"/>
                <a:sym typeface="Roboto"/>
              </a:rPr>
              <a:t>)</a:t>
            </a:r>
          </a:p>
          <a:p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/>
            </a:r>
            <a:b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</a:br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VTEP </a:t>
            </a:r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L-B1 10.0.0.51</a:t>
            </a:r>
            <a:b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</a:br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VTEP </a:t>
            </a:r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L-B2 10.0.0.52</a:t>
            </a:r>
            <a:endParaRPr lang="en-US" sz="1100" dirty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Flood VTEP </a:t>
            </a:r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ALL</a:t>
            </a:r>
          </a:p>
          <a:p>
            <a:endParaRPr lang="en-US" sz="1100" dirty="0" smtClean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AS L 65001</a:t>
            </a:r>
          </a:p>
          <a:p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RR </a:t>
            </a:r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L-A1 10.0.0.11</a:t>
            </a:r>
            <a:endParaRPr lang="ru-RU" sz="1100" dirty="0" smtClean="0">
              <a:solidFill>
                <a:schemeClr val="dk1"/>
              </a:solidFill>
              <a:latin typeface="Roboto"/>
              <a:sym typeface="Roboto"/>
            </a:endParaRPr>
          </a:p>
          <a:p>
            <a:endParaRPr lang="en-US" sz="1100" dirty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1100" dirty="0" err="1">
                <a:solidFill>
                  <a:schemeClr val="dk1"/>
                </a:solidFill>
                <a:latin typeface="Roboto"/>
                <a:sym typeface="Roboto"/>
              </a:rPr>
              <a:t>Anycast</a:t>
            </a:r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 GW 192.168.10.254 /24</a:t>
            </a:r>
          </a:p>
          <a:p>
            <a:r>
              <a:rPr lang="en-US" sz="1100" dirty="0" err="1">
                <a:solidFill>
                  <a:schemeClr val="dk1"/>
                </a:solidFill>
                <a:latin typeface="Roboto"/>
                <a:sym typeface="Roboto"/>
              </a:rPr>
              <a:t>Anycast</a:t>
            </a:r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Roboto"/>
                <a:sym typeface="Roboto"/>
              </a:rPr>
              <a:t>vIP</a:t>
            </a:r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 (MLAG) 192.168.10.1</a:t>
            </a:r>
          </a:p>
          <a:p>
            <a:r>
              <a:rPr lang="en-US" sz="1100" dirty="0" err="1">
                <a:solidFill>
                  <a:schemeClr val="dk1"/>
                </a:solidFill>
                <a:latin typeface="Roboto"/>
                <a:sym typeface="Roboto"/>
              </a:rPr>
              <a:t>Anycast</a:t>
            </a:r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 MAC (MLAG) 0000.1111.2222</a:t>
            </a:r>
            <a:endParaRPr lang="ru-RU" sz="1100" dirty="0"/>
          </a:p>
          <a:p>
            <a:endParaRPr lang="en-US" sz="1100" dirty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Host-B 192.168.10.20 /24 (k8s - </a:t>
            </a:r>
            <a:r>
              <a:rPr lang="en-US" sz="1100" b="1" dirty="0">
                <a:solidFill>
                  <a:schemeClr val="dk1"/>
                </a:solidFill>
                <a:latin typeface="Roboto"/>
                <a:sym typeface="Roboto"/>
              </a:rPr>
              <a:t>slave</a:t>
            </a:r>
            <a:r>
              <a:rPr lang="en-US" sz="1100" dirty="0">
                <a:solidFill>
                  <a:schemeClr val="dk1"/>
                </a:solidFill>
                <a:latin typeface="Roboto"/>
                <a:sym typeface="Roboto"/>
              </a:rPr>
              <a:t>)</a:t>
            </a:r>
          </a:p>
          <a:p>
            <a:endParaRPr lang="ru-RU" sz="1100" dirty="0">
              <a:solidFill>
                <a:schemeClr val="dk1"/>
              </a:solidFill>
              <a:latin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546027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200199" y="284001"/>
            <a:ext cx="7288686" cy="1471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 smtClean="0"/>
              <a:t>Выполняемые работы</a:t>
            </a:r>
            <a:br>
              <a:rPr lang="ru-RU" sz="3000" dirty="0" smtClean="0"/>
            </a:br>
            <a: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  <a:t>1. Строим физику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  <a:t>2. Планируем адресацию</a:t>
            </a:r>
            <a:r>
              <a:rPr lang="ru-RU" sz="1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  <a:t>(вторая </a:t>
            </a:r>
            <a:r>
              <a:rPr lang="ru-RU" sz="1000" dirty="0">
                <a:solidFill>
                  <a:schemeClr val="bg1">
                    <a:lumMod val="75000"/>
                  </a:schemeClr>
                </a:solidFill>
              </a:rPr>
              <a:t>часть)</a:t>
            </a:r>
            <a: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  <a:t/>
            </a:r>
            <a:b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</a:br>
            <a: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  <a:t>3. Определяемся с ролями узлов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en-US" sz="2000" dirty="0">
                <a:solidFill>
                  <a:schemeClr val="tx1"/>
                </a:solidFill>
              </a:rPr>
              <a:t>4</a:t>
            </a:r>
            <a:r>
              <a:rPr lang="ru-RU" sz="2000" dirty="0">
                <a:solidFill>
                  <a:schemeClr val="tx1"/>
                </a:solidFill>
              </a:rPr>
              <a:t>. </a:t>
            </a:r>
            <a:r>
              <a:rPr lang="ru-RU" sz="2000" dirty="0" smtClean="0">
                <a:solidFill>
                  <a:schemeClr val="tx1"/>
                </a:solidFill>
              </a:rPr>
              <a:t>Настраиваем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9" name="Google Shape;172;p38">
            <a:extLst>
              <a:ext uri="{FF2B5EF4-FFF2-40B4-BE49-F238E27FC236}">
                <a16:creationId xmlns:a16="http://schemas.microsoft.com/office/drawing/2014/main" id="{4558C006-18D9-4011-911C-2473CC233C07}"/>
              </a:ext>
            </a:extLst>
          </p:cNvPr>
          <p:cNvSpPr/>
          <p:nvPr/>
        </p:nvSpPr>
        <p:spPr>
          <a:xfrm>
            <a:off x="0" y="4921625"/>
            <a:ext cx="2918012" cy="2218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 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5869"/>
            <a:ext cx="1795428" cy="2975756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2763547" y="927092"/>
            <a:ext cx="42637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 smtClean="0">
                <a:solidFill>
                  <a:schemeClr val="dk1"/>
                </a:solidFill>
                <a:latin typeface="Roboto"/>
                <a:sym typeface="Roboto"/>
              </a:rPr>
              <a:t>«</a:t>
            </a:r>
            <a:r>
              <a:rPr lang="en-US" sz="1100" dirty="0" err="1" smtClean="0">
                <a:solidFill>
                  <a:schemeClr val="dk1"/>
                </a:solidFill>
                <a:latin typeface="Roboto"/>
                <a:sym typeface="Roboto"/>
              </a:rPr>
              <a:t>sh</a:t>
            </a:r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 run</a:t>
            </a:r>
            <a:r>
              <a:rPr lang="ru-RU" sz="1100" dirty="0" smtClean="0">
                <a:solidFill>
                  <a:schemeClr val="dk1"/>
                </a:solidFill>
                <a:latin typeface="Roboto"/>
                <a:sym typeface="Roboto"/>
              </a:rPr>
              <a:t>» в студию! </a:t>
            </a:r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/>
            </a:r>
            <a:b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</a:br>
            <a:r>
              <a:rPr lang="ru-RU" sz="1100" dirty="0" smtClean="0">
                <a:solidFill>
                  <a:schemeClr val="dk1"/>
                </a:solidFill>
                <a:latin typeface="Roboto"/>
                <a:sym typeface="Roboto"/>
              </a:rPr>
              <a:t>Но перед этим… в каждом </a:t>
            </a:r>
            <a:r>
              <a:rPr lang="en-US" sz="1100" dirty="0" err="1" smtClean="0">
                <a:solidFill>
                  <a:schemeClr val="dk1"/>
                </a:solidFill>
                <a:latin typeface="Roboto"/>
                <a:sym typeface="Roboto"/>
              </a:rPr>
              <a:t>vEOS</a:t>
            </a:r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>:</a:t>
            </a:r>
            <a:r>
              <a:rPr lang="ru-RU" sz="1100" dirty="0" smtClean="0">
                <a:solidFill>
                  <a:schemeClr val="dk1"/>
                </a:solidFill>
                <a:latin typeface="Roboto"/>
                <a:sym typeface="Roboto"/>
              </a:rPr>
              <a:t> </a:t>
            </a:r>
            <a:r>
              <a:rPr lang="en-US" sz="1100" b="1" dirty="0" err="1">
                <a:solidFill>
                  <a:schemeClr val="dk1"/>
                </a:solidFill>
                <a:latin typeface="Roboto"/>
                <a:sym typeface="Roboto"/>
              </a:rPr>
              <a:t>zerotouch</a:t>
            </a:r>
            <a:r>
              <a:rPr lang="en-US" sz="1100" b="1" dirty="0">
                <a:solidFill>
                  <a:schemeClr val="dk1"/>
                </a:solidFill>
                <a:latin typeface="Roboto"/>
                <a:sym typeface="Roboto"/>
              </a:rPr>
              <a:t> disable + reload </a:t>
            </a:r>
            <a: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  <a:t/>
            </a:r>
            <a:br>
              <a:rPr lang="en-US" sz="1100" dirty="0" smtClean="0">
                <a:solidFill>
                  <a:schemeClr val="dk1"/>
                </a:solidFill>
                <a:latin typeface="Roboto"/>
                <a:sym typeface="Roboto"/>
              </a:rPr>
            </a:br>
            <a:r>
              <a:rPr lang="en-US" sz="1100" b="1" dirty="0" smtClean="0">
                <a:solidFill>
                  <a:schemeClr val="dk1"/>
                </a:solidFill>
                <a:latin typeface="Roboto"/>
                <a:sym typeface="Roboto"/>
              </a:rPr>
              <a:t/>
            </a:r>
            <a:br>
              <a:rPr lang="en-US" sz="1100" b="1" dirty="0" smtClean="0">
                <a:solidFill>
                  <a:schemeClr val="dk1"/>
                </a:solidFill>
                <a:latin typeface="Roboto"/>
                <a:sym typeface="Roboto"/>
              </a:rPr>
            </a:br>
            <a:r>
              <a:rPr lang="ru-RU" sz="1100" dirty="0" smtClean="0">
                <a:solidFill>
                  <a:schemeClr val="dk1"/>
                </a:solidFill>
                <a:latin typeface="Roboto"/>
                <a:sym typeface="Roboto"/>
              </a:rPr>
              <a:t>Показываю только главное, иначе не </a:t>
            </a:r>
            <a:r>
              <a:rPr lang="ru-RU" sz="1100" dirty="0" err="1" smtClean="0">
                <a:solidFill>
                  <a:schemeClr val="dk1"/>
                </a:solidFill>
                <a:latin typeface="Roboto"/>
                <a:sym typeface="Roboto"/>
              </a:rPr>
              <a:t>влазиет</a:t>
            </a:r>
            <a:endParaRPr lang="ru-RU" sz="1100" dirty="0" smtClean="0">
              <a:solidFill>
                <a:schemeClr val="dk1"/>
              </a:solidFill>
              <a:latin typeface="Roboto"/>
              <a:sym typeface="Roboto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95428" y="1966606"/>
            <a:ext cx="1942265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b="1" dirty="0" err="1">
                <a:solidFill>
                  <a:schemeClr val="dk1"/>
                </a:solidFill>
                <a:latin typeface="Roboto"/>
                <a:sym typeface="Roboto"/>
              </a:rPr>
              <a:t>Host-A</a:t>
            </a:r>
            <a:r>
              <a:rPr lang="en-US" sz="700" dirty="0" err="1">
                <a:solidFill>
                  <a:schemeClr val="dk1"/>
                </a:solidFill>
                <a:latin typeface="Roboto"/>
                <a:sym typeface="Roboto"/>
              </a:rPr>
              <a:t>#sh</a:t>
            </a:r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 </a:t>
            </a:r>
            <a:r>
              <a:rPr lang="en-US" sz="700" dirty="0" smtClean="0">
                <a:solidFill>
                  <a:schemeClr val="dk1"/>
                </a:solidFill>
                <a:latin typeface="Roboto"/>
                <a:sym typeface="Roboto"/>
              </a:rPr>
              <a:t>run</a:t>
            </a:r>
          </a:p>
          <a:p>
            <a:r>
              <a:rPr lang="en-US" sz="700" dirty="0" smtClean="0">
                <a:solidFill>
                  <a:schemeClr val="dk1"/>
                </a:solidFill>
                <a:latin typeface="Roboto"/>
                <a:sym typeface="Roboto"/>
              </a:rPr>
              <a:t>! </a:t>
            </a:r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device: Host-A (</a:t>
            </a:r>
            <a:r>
              <a:rPr lang="en-US" sz="700" dirty="0" err="1">
                <a:solidFill>
                  <a:schemeClr val="dk1"/>
                </a:solidFill>
                <a:latin typeface="Roboto"/>
                <a:sym typeface="Roboto"/>
              </a:rPr>
              <a:t>vEOS</a:t>
            </a:r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-lab, EOS-4.29.2F</a:t>
            </a:r>
            <a:r>
              <a:rPr lang="en-US" sz="700" dirty="0" smtClean="0">
                <a:solidFill>
                  <a:schemeClr val="dk1"/>
                </a:solidFill>
                <a:latin typeface="Roboto"/>
                <a:sym typeface="Roboto"/>
              </a:rPr>
              <a:t>)</a:t>
            </a:r>
            <a:endParaRPr lang="en-US" sz="700" dirty="0">
              <a:solidFill>
                <a:schemeClr val="dk1"/>
              </a:solidFill>
              <a:latin typeface="Roboto"/>
              <a:sym typeface="Roboto"/>
            </a:endParaRPr>
          </a:p>
          <a:p>
            <a:endParaRPr lang="en-US" sz="700" dirty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700" dirty="0" err="1">
                <a:solidFill>
                  <a:schemeClr val="dk1"/>
                </a:solidFill>
                <a:latin typeface="Roboto"/>
                <a:sym typeface="Roboto"/>
              </a:rPr>
              <a:t>vlan</a:t>
            </a:r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 </a:t>
            </a:r>
            <a:r>
              <a:rPr lang="en-US" sz="700" dirty="0" smtClean="0">
                <a:solidFill>
                  <a:schemeClr val="dk1"/>
                </a:solidFill>
                <a:latin typeface="Roboto"/>
                <a:sym typeface="Roboto"/>
              </a:rPr>
              <a:t>10</a:t>
            </a:r>
          </a:p>
          <a:p>
            <a:endParaRPr lang="en-US" sz="700" dirty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interface Port-Channel100</a:t>
            </a:r>
          </a:p>
          <a:p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   description Uplink to MLAG</a:t>
            </a:r>
          </a:p>
          <a:p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   </a:t>
            </a:r>
            <a:r>
              <a:rPr lang="en-US" sz="700" dirty="0" err="1">
                <a:solidFill>
                  <a:schemeClr val="dk1"/>
                </a:solidFill>
                <a:latin typeface="Roboto"/>
                <a:sym typeface="Roboto"/>
              </a:rPr>
              <a:t>switchport</a:t>
            </a:r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 trunk allowed </a:t>
            </a:r>
            <a:r>
              <a:rPr lang="en-US" sz="700" dirty="0" err="1">
                <a:solidFill>
                  <a:schemeClr val="dk1"/>
                </a:solidFill>
                <a:latin typeface="Roboto"/>
                <a:sym typeface="Roboto"/>
              </a:rPr>
              <a:t>vlan</a:t>
            </a:r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 10</a:t>
            </a:r>
          </a:p>
          <a:p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   </a:t>
            </a:r>
            <a:r>
              <a:rPr lang="en-US" sz="700" dirty="0" err="1">
                <a:solidFill>
                  <a:schemeClr val="dk1"/>
                </a:solidFill>
                <a:latin typeface="Roboto"/>
                <a:sym typeface="Roboto"/>
              </a:rPr>
              <a:t>switchport</a:t>
            </a:r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 mode </a:t>
            </a:r>
            <a:r>
              <a:rPr lang="en-US" sz="700" dirty="0" smtClean="0">
                <a:solidFill>
                  <a:schemeClr val="dk1"/>
                </a:solidFill>
                <a:latin typeface="Roboto"/>
                <a:sym typeface="Roboto"/>
              </a:rPr>
              <a:t>trunk</a:t>
            </a:r>
          </a:p>
          <a:p>
            <a:endParaRPr lang="en-US" sz="700" dirty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interface Ethernet1</a:t>
            </a:r>
          </a:p>
          <a:p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   description To-Leaf-A1</a:t>
            </a:r>
          </a:p>
          <a:p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   channel-group 100 mode </a:t>
            </a:r>
            <a:r>
              <a:rPr lang="en-US" sz="700" dirty="0" smtClean="0">
                <a:solidFill>
                  <a:schemeClr val="dk1"/>
                </a:solidFill>
                <a:latin typeface="Roboto"/>
                <a:sym typeface="Roboto"/>
              </a:rPr>
              <a:t>active</a:t>
            </a:r>
          </a:p>
          <a:p>
            <a:endParaRPr lang="en-US" sz="700" dirty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interface Ethernet2</a:t>
            </a:r>
          </a:p>
          <a:p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   description To-Leaf-A2</a:t>
            </a:r>
          </a:p>
          <a:p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   channel-group 100 mode </a:t>
            </a:r>
            <a:r>
              <a:rPr lang="en-US" sz="700" dirty="0" smtClean="0">
                <a:solidFill>
                  <a:schemeClr val="dk1"/>
                </a:solidFill>
                <a:latin typeface="Roboto"/>
                <a:sym typeface="Roboto"/>
              </a:rPr>
              <a:t>active</a:t>
            </a:r>
            <a:endParaRPr lang="en-US" sz="700" dirty="0">
              <a:solidFill>
                <a:schemeClr val="dk1"/>
              </a:solidFill>
              <a:latin typeface="Roboto"/>
              <a:sym typeface="Roboto"/>
            </a:endParaRPr>
          </a:p>
          <a:p>
            <a:endParaRPr lang="en-US" sz="700" dirty="0" smtClean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700" dirty="0" smtClean="0">
                <a:solidFill>
                  <a:schemeClr val="dk1"/>
                </a:solidFill>
                <a:latin typeface="Roboto"/>
                <a:sym typeface="Roboto"/>
              </a:rPr>
              <a:t>interface </a:t>
            </a:r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Vlan10</a:t>
            </a:r>
          </a:p>
          <a:p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   description Client Interface</a:t>
            </a:r>
          </a:p>
          <a:p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   </a:t>
            </a:r>
            <a:r>
              <a:rPr lang="en-US" sz="700" dirty="0" err="1">
                <a:solidFill>
                  <a:schemeClr val="dk1"/>
                </a:solidFill>
                <a:latin typeface="Roboto"/>
                <a:sym typeface="Roboto"/>
              </a:rPr>
              <a:t>ip</a:t>
            </a:r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 address </a:t>
            </a:r>
            <a:r>
              <a:rPr lang="en-US" sz="700" dirty="0" smtClean="0">
                <a:solidFill>
                  <a:schemeClr val="dk1"/>
                </a:solidFill>
                <a:latin typeface="Roboto"/>
                <a:sym typeface="Roboto"/>
              </a:rPr>
              <a:t>192.168.10.10/24</a:t>
            </a:r>
            <a:endParaRPr lang="en-US" sz="700" dirty="0">
              <a:solidFill>
                <a:schemeClr val="dk1"/>
              </a:solidFill>
              <a:latin typeface="Roboto"/>
              <a:sym typeface="Roboto"/>
            </a:endParaRPr>
          </a:p>
          <a:p>
            <a:endParaRPr lang="en-US" sz="700" dirty="0" smtClean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700" dirty="0" err="1" smtClean="0">
                <a:solidFill>
                  <a:schemeClr val="dk1"/>
                </a:solidFill>
                <a:latin typeface="Roboto"/>
                <a:sym typeface="Roboto"/>
              </a:rPr>
              <a:t>ip</a:t>
            </a:r>
            <a:r>
              <a:rPr lang="en-US" sz="700" dirty="0" smtClean="0">
                <a:solidFill>
                  <a:schemeClr val="dk1"/>
                </a:solidFill>
                <a:latin typeface="Roboto"/>
                <a:sym typeface="Roboto"/>
              </a:rPr>
              <a:t> </a:t>
            </a:r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route 0.0.0.0/0 </a:t>
            </a:r>
            <a:r>
              <a:rPr lang="en-US" sz="700" dirty="0" smtClean="0">
                <a:solidFill>
                  <a:schemeClr val="dk1"/>
                </a:solidFill>
                <a:latin typeface="Roboto"/>
                <a:sym typeface="Roboto"/>
              </a:rPr>
              <a:t>192.168.10.254</a:t>
            </a:r>
            <a:endParaRPr lang="en-US" sz="700" dirty="0">
              <a:solidFill>
                <a:schemeClr val="dk1"/>
              </a:solidFill>
              <a:latin typeface="Roboto"/>
              <a:sym typeface="Roboto"/>
            </a:endParaRPr>
          </a:p>
          <a:p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end</a:t>
            </a:r>
          </a:p>
          <a:p>
            <a:r>
              <a:rPr lang="en-US" sz="700" dirty="0">
                <a:solidFill>
                  <a:schemeClr val="dk1"/>
                </a:solidFill>
                <a:latin typeface="Roboto"/>
                <a:sym typeface="Roboto"/>
              </a:rPr>
              <a:t>Host-A#</a:t>
            </a:r>
            <a:endParaRPr lang="ru-RU" sz="700" dirty="0">
              <a:solidFill>
                <a:schemeClr val="dk1"/>
              </a:solidFill>
              <a:latin typeface="Roboto"/>
              <a:sym typeface="Roboto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808804" y="89533"/>
            <a:ext cx="245120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b="1" dirty="0"/>
              <a:t>Leaf-A1</a:t>
            </a:r>
            <a:r>
              <a:rPr lang="en-US" sz="700" dirty="0"/>
              <a:t>#sh run</a:t>
            </a:r>
          </a:p>
          <a:p>
            <a:r>
              <a:rPr lang="en-US" sz="700" dirty="0" smtClean="0"/>
              <a:t>interface </a:t>
            </a:r>
            <a:r>
              <a:rPr lang="en-US" sz="700" dirty="0"/>
              <a:t>Vlan10</a:t>
            </a:r>
          </a:p>
          <a:p>
            <a:r>
              <a:rPr lang="en-US" sz="700" dirty="0"/>
              <a:t>   </a:t>
            </a:r>
            <a:r>
              <a:rPr lang="en-US" sz="700" dirty="0" err="1"/>
              <a:t>ip</a:t>
            </a:r>
            <a:r>
              <a:rPr lang="en-US" sz="700" dirty="0"/>
              <a:t> address 192.168.10.1/24</a:t>
            </a:r>
          </a:p>
          <a:p>
            <a:r>
              <a:rPr lang="en-US" sz="700" dirty="0"/>
              <a:t>   </a:t>
            </a:r>
            <a:r>
              <a:rPr lang="en-US" sz="700" dirty="0" err="1"/>
              <a:t>ip</a:t>
            </a:r>
            <a:r>
              <a:rPr lang="en-US" sz="700" dirty="0"/>
              <a:t> virtual-router address 192.168.10.254</a:t>
            </a:r>
          </a:p>
          <a:p>
            <a:r>
              <a:rPr lang="en-US" sz="700" dirty="0"/>
              <a:t>!</a:t>
            </a:r>
          </a:p>
          <a:p>
            <a:r>
              <a:rPr lang="en-US" sz="700" dirty="0" smtClean="0"/>
              <a:t>interface </a:t>
            </a:r>
            <a:r>
              <a:rPr lang="en-US" sz="700" dirty="0"/>
              <a:t>Vxlan1</a:t>
            </a:r>
          </a:p>
          <a:p>
            <a:r>
              <a:rPr lang="en-US" sz="700" dirty="0"/>
              <a:t>   </a:t>
            </a:r>
            <a:r>
              <a:rPr lang="en-US" sz="700" dirty="0" err="1"/>
              <a:t>vxlan</a:t>
            </a:r>
            <a:r>
              <a:rPr lang="en-US" sz="700" dirty="0"/>
              <a:t> source-interface Loopback0</a:t>
            </a:r>
          </a:p>
          <a:p>
            <a:r>
              <a:rPr lang="en-US" sz="700" dirty="0"/>
              <a:t>   </a:t>
            </a:r>
            <a:r>
              <a:rPr lang="en-US" sz="700" dirty="0" err="1"/>
              <a:t>vxlan</a:t>
            </a:r>
            <a:r>
              <a:rPr lang="en-US" sz="700" dirty="0"/>
              <a:t> </a:t>
            </a:r>
            <a:r>
              <a:rPr lang="en-US" sz="700" dirty="0" err="1"/>
              <a:t>udp</a:t>
            </a:r>
            <a:r>
              <a:rPr lang="en-US" sz="700" dirty="0"/>
              <a:t>-port 4789</a:t>
            </a:r>
          </a:p>
          <a:p>
            <a:r>
              <a:rPr lang="en-US" sz="700" dirty="0"/>
              <a:t>   </a:t>
            </a:r>
            <a:r>
              <a:rPr lang="en-US" sz="700" dirty="0" err="1"/>
              <a:t>vxlan</a:t>
            </a:r>
            <a:r>
              <a:rPr lang="en-US" sz="700" dirty="0"/>
              <a:t> </a:t>
            </a:r>
            <a:r>
              <a:rPr lang="en-US" sz="700" dirty="0" err="1"/>
              <a:t>vlan</a:t>
            </a:r>
            <a:r>
              <a:rPr lang="en-US" sz="700" dirty="0"/>
              <a:t> 10 </a:t>
            </a:r>
            <a:r>
              <a:rPr lang="en-US" sz="700" dirty="0" err="1"/>
              <a:t>vni</a:t>
            </a:r>
            <a:r>
              <a:rPr lang="en-US" sz="700" dirty="0"/>
              <a:t> 10010</a:t>
            </a:r>
          </a:p>
          <a:p>
            <a:r>
              <a:rPr lang="en-US" sz="700" dirty="0"/>
              <a:t>   </a:t>
            </a:r>
            <a:r>
              <a:rPr lang="en-US" sz="700" dirty="0" err="1"/>
              <a:t>vxlan</a:t>
            </a:r>
            <a:r>
              <a:rPr lang="en-US" sz="700" dirty="0"/>
              <a:t> flood </a:t>
            </a:r>
            <a:r>
              <a:rPr lang="en-US" sz="700" dirty="0" err="1"/>
              <a:t>vtep</a:t>
            </a:r>
            <a:r>
              <a:rPr lang="en-US" sz="700" dirty="0"/>
              <a:t> 10.0.0.12 10.0.0.51 10.0.0.52</a:t>
            </a:r>
          </a:p>
          <a:p>
            <a:r>
              <a:rPr lang="ru-RU" sz="700" dirty="0" smtClean="0"/>
              <a:t>!</a:t>
            </a:r>
          </a:p>
          <a:p>
            <a:r>
              <a:rPr lang="en-US" sz="700" dirty="0" err="1" smtClean="0"/>
              <a:t>ip</a:t>
            </a:r>
            <a:r>
              <a:rPr lang="en-US" sz="700" dirty="0" smtClean="0"/>
              <a:t> </a:t>
            </a:r>
            <a:r>
              <a:rPr lang="en-US" sz="700" dirty="0"/>
              <a:t>prefix-list FROM-IS-IS </a:t>
            </a:r>
            <a:r>
              <a:rPr lang="en-US" sz="700" dirty="0" err="1"/>
              <a:t>seq</a:t>
            </a:r>
            <a:r>
              <a:rPr lang="en-US" sz="700" dirty="0"/>
              <a:t> 10 permit 10.0.0.0/24 le 32</a:t>
            </a:r>
          </a:p>
          <a:p>
            <a:r>
              <a:rPr lang="en-US" sz="700" dirty="0" smtClean="0"/>
              <a:t>!</a:t>
            </a:r>
            <a:endParaRPr lang="en-US" sz="700" dirty="0"/>
          </a:p>
          <a:p>
            <a:r>
              <a:rPr lang="en-US" sz="700" dirty="0"/>
              <a:t>route-map IS-IS-to-BGP permit 10</a:t>
            </a:r>
          </a:p>
          <a:p>
            <a:r>
              <a:rPr lang="en-US" sz="700" dirty="0"/>
              <a:t>   match </a:t>
            </a:r>
            <a:r>
              <a:rPr lang="en-US" sz="700" dirty="0" err="1"/>
              <a:t>ip</a:t>
            </a:r>
            <a:r>
              <a:rPr lang="en-US" sz="700" dirty="0"/>
              <a:t> address prefix-list FROM-IS-IS</a:t>
            </a:r>
          </a:p>
          <a:p>
            <a:r>
              <a:rPr lang="en-US" sz="700" dirty="0"/>
              <a:t>!</a:t>
            </a:r>
          </a:p>
          <a:p>
            <a:r>
              <a:rPr lang="en-US" sz="700" dirty="0"/>
              <a:t>router </a:t>
            </a:r>
            <a:r>
              <a:rPr lang="en-US" sz="700" dirty="0" err="1"/>
              <a:t>bgp</a:t>
            </a:r>
            <a:r>
              <a:rPr lang="en-US" sz="700" dirty="0"/>
              <a:t> 65001</a:t>
            </a:r>
          </a:p>
          <a:p>
            <a:r>
              <a:rPr lang="en-US" sz="700" dirty="0"/>
              <a:t>   router-id 10.0.0.11</a:t>
            </a:r>
          </a:p>
          <a:p>
            <a:r>
              <a:rPr lang="en-US" sz="700" dirty="0"/>
              <a:t>   no </a:t>
            </a:r>
            <a:r>
              <a:rPr lang="en-US" sz="700" dirty="0" err="1"/>
              <a:t>bgp</a:t>
            </a:r>
            <a:r>
              <a:rPr lang="en-US" sz="700" dirty="0"/>
              <a:t> default ipv4-unicast</a:t>
            </a:r>
          </a:p>
          <a:p>
            <a:r>
              <a:rPr lang="en-US" sz="700" dirty="0"/>
              <a:t>   neighbor LEAF-EVPN peer group</a:t>
            </a:r>
          </a:p>
          <a:p>
            <a:r>
              <a:rPr lang="en-US" sz="700" dirty="0"/>
              <a:t>   neighbor LEAF-EVPN remote-as 65001</a:t>
            </a:r>
          </a:p>
          <a:p>
            <a:r>
              <a:rPr lang="en-US" sz="700" dirty="0"/>
              <a:t>   neighbor LEAF-EVPN update-source Loopback0</a:t>
            </a:r>
          </a:p>
          <a:p>
            <a:r>
              <a:rPr lang="en-US" sz="700" dirty="0"/>
              <a:t>   neighbor LEAF-EVPN </a:t>
            </a:r>
            <a:r>
              <a:rPr lang="en-US" sz="700" dirty="0" err="1"/>
              <a:t>ebgp-multihop</a:t>
            </a:r>
            <a:r>
              <a:rPr lang="en-US" sz="700" dirty="0"/>
              <a:t> 5</a:t>
            </a:r>
          </a:p>
          <a:p>
            <a:r>
              <a:rPr lang="en-US" sz="700" dirty="0"/>
              <a:t>   neighbor LEAF-EVPN route-reflector-client</a:t>
            </a:r>
          </a:p>
          <a:p>
            <a:r>
              <a:rPr lang="en-US" sz="700" dirty="0"/>
              <a:t>   neighbor LEAF-EVPN send-community extended</a:t>
            </a:r>
          </a:p>
          <a:p>
            <a:r>
              <a:rPr lang="en-US" sz="700" dirty="0"/>
              <a:t>   neighbor 10.0.0.12 peer group LEAF-EVPN</a:t>
            </a:r>
          </a:p>
          <a:p>
            <a:r>
              <a:rPr lang="ru-RU" sz="700" dirty="0" smtClean="0"/>
              <a:t>   </a:t>
            </a:r>
            <a:r>
              <a:rPr lang="en-US" sz="700" dirty="0" smtClean="0"/>
              <a:t>neighbor 10.0.0.21 route-map IS-IS-to-BGP in</a:t>
            </a:r>
          </a:p>
          <a:p>
            <a:r>
              <a:rPr lang="ru-RU" sz="700" dirty="0" smtClean="0"/>
              <a:t>   </a:t>
            </a:r>
            <a:r>
              <a:rPr lang="en-US" sz="700" dirty="0" smtClean="0"/>
              <a:t>neighbor </a:t>
            </a:r>
            <a:r>
              <a:rPr lang="en-US" sz="700" dirty="0"/>
              <a:t>10.0.0.22 route-map IS-IS-to-BGP in</a:t>
            </a:r>
          </a:p>
          <a:p>
            <a:r>
              <a:rPr lang="en-US" sz="700" dirty="0"/>
              <a:t>   neighbor 10.0.0.51 peer group LEAF-EVPN</a:t>
            </a:r>
          </a:p>
          <a:p>
            <a:r>
              <a:rPr lang="en-US" sz="700" dirty="0"/>
              <a:t>   neighbor 10.0.0.52 peer group LEAF-EVPN</a:t>
            </a:r>
          </a:p>
          <a:p>
            <a:r>
              <a:rPr lang="en-US" sz="700" dirty="0"/>
              <a:t>   !</a:t>
            </a:r>
          </a:p>
          <a:p>
            <a:r>
              <a:rPr lang="en-US" sz="700" dirty="0"/>
              <a:t>   address-family </a:t>
            </a:r>
            <a:r>
              <a:rPr lang="en-US" sz="700" dirty="0" err="1"/>
              <a:t>evpn</a:t>
            </a:r>
            <a:endParaRPr lang="en-US" sz="700" dirty="0"/>
          </a:p>
          <a:p>
            <a:r>
              <a:rPr lang="en-US" sz="700" dirty="0"/>
              <a:t>      neighbor LEAF-EVPN activate</a:t>
            </a:r>
          </a:p>
          <a:p>
            <a:r>
              <a:rPr lang="en-US" sz="700" dirty="0"/>
              <a:t>!</a:t>
            </a:r>
          </a:p>
          <a:p>
            <a:r>
              <a:rPr lang="en-US" sz="700" dirty="0"/>
              <a:t>router </a:t>
            </a:r>
            <a:r>
              <a:rPr lang="en-US" sz="700" dirty="0" err="1"/>
              <a:t>isis</a:t>
            </a:r>
            <a:r>
              <a:rPr lang="en-US" sz="700" dirty="0"/>
              <a:t> 1</a:t>
            </a:r>
          </a:p>
          <a:p>
            <a:r>
              <a:rPr lang="en-US" sz="700" dirty="0"/>
              <a:t>   net 49.0001.0000.0000.0011.00</a:t>
            </a:r>
          </a:p>
          <a:p>
            <a:r>
              <a:rPr lang="en-US" sz="700" dirty="0"/>
              <a:t>   is-type level-2</a:t>
            </a:r>
          </a:p>
          <a:p>
            <a:r>
              <a:rPr lang="en-US" sz="700" dirty="0"/>
              <a:t>   log-adjacency-changes</a:t>
            </a:r>
          </a:p>
          <a:p>
            <a:r>
              <a:rPr lang="en-US" sz="700" dirty="0"/>
              <a:t>   !</a:t>
            </a:r>
          </a:p>
          <a:p>
            <a:r>
              <a:rPr lang="en-US" sz="700" dirty="0"/>
              <a:t>   address-family ipv4 unicast</a:t>
            </a:r>
          </a:p>
          <a:p>
            <a:r>
              <a:rPr lang="en-US" sz="700" dirty="0"/>
              <a:t>      maximum-paths 4</a:t>
            </a:r>
          </a:p>
          <a:p>
            <a:r>
              <a:rPr lang="en-US" sz="700" dirty="0"/>
              <a:t>!</a:t>
            </a:r>
          </a:p>
          <a:p>
            <a:r>
              <a:rPr lang="en-US" sz="700" dirty="0"/>
              <a:t>end</a:t>
            </a:r>
          </a:p>
          <a:p>
            <a:r>
              <a:rPr lang="en-US" sz="700" dirty="0"/>
              <a:t>Leaf-A1#</a:t>
            </a:r>
            <a:endParaRPr lang="ru-RU" sz="7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554685" y="1966606"/>
            <a:ext cx="160466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700" b="1" dirty="0"/>
              <a:t>Spine-A1</a:t>
            </a:r>
            <a:r>
              <a:rPr lang="ru-RU" sz="700" dirty="0"/>
              <a:t>#sh </a:t>
            </a:r>
            <a:r>
              <a:rPr lang="ru-RU" sz="700" dirty="0" err="1"/>
              <a:t>run</a:t>
            </a:r>
            <a:endParaRPr lang="ru-RU" sz="700" dirty="0"/>
          </a:p>
          <a:p>
            <a:r>
              <a:rPr lang="ru-RU" sz="700" dirty="0" smtClean="0"/>
              <a:t>!</a:t>
            </a:r>
            <a:endParaRPr lang="ru-RU" sz="700" dirty="0"/>
          </a:p>
          <a:p>
            <a:r>
              <a:rPr lang="ru-RU" sz="700" dirty="0" err="1"/>
              <a:t>router</a:t>
            </a:r>
            <a:r>
              <a:rPr lang="ru-RU" sz="700" dirty="0"/>
              <a:t> </a:t>
            </a:r>
            <a:r>
              <a:rPr lang="ru-RU" sz="700" dirty="0" err="1"/>
              <a:t>isis</a:t>
            </a:r>
            <a:r>
              <a:rPr lang="ru-RU" sz="700" dirty="0"/>
              <a:t> 1</a:t>
            </a:r>
          </a:p>
          <a:p>
            <a:r>
              <a:rPr lang="ru-RU" sz="700" dirty="0"/>
              <a:t>   </a:t>
            </a:r>
            <a:r>
              <a:rPr lang="ru-RU" sz="700" dirty="0" err="1"/>
              <a:t>net</a:t>
            </a:r>
            <a:r>
              <a:rPr lang="ru-RU" sz="700" dirty="0"/>
              <a:t> 49.0001.0000.0000.0001.00</a:t>
            </a:r>
          </a:p>
          <a:p>
            <a:r>
              <a:rPr lang="ru-RU" sz="700" dirty="0"/>
              <a:t>   </a:t>
            </a:r>
            <a:r>
              <a:rPr lang="ru-RU" sz="700" dirty="0" err="1"/>
              <a:t>is-type</a:t>
            </a:r>
            <a:r>
              <a:rPr lang="ru-RU" sz="700" dirty="0"/>
              <a:t> level-2</a:t>
            </a:r>
          </a:p>
          <a:p>
            <a:r>
              <a:rPr lang="ru-RU" sz="700" dirty="0"/>
              <a:t>   </a:t>
            </a:r>
            <a:r>
              <a:rPr lang="ru-RU" sz="700" dirty="0" err="1"/>
              <a:t>log-adjacency-changes</a:t>
            </a:r>
            <a:endParaRPr lang="ru-RU" sz="700" dirty="0"/>
          </a:p>
          <a:p>
            <a:r>
              <a:rPr lang="ru-RU" sz="700" dirty="0"/>
              <a:t>   !</a:t>
            </a:r>
          </a:p>
          <a:p>
            <a:r>
              <a:rPr lang="ru-RU" sz="700" dirty="0"/>
              <a:t>   </a:t>
            </a:r>
            <a:r>
              <a:rPr lang="ru-RU" sz="700" dirty="0" err="1"/>
              <a:t>address-family</a:t>
            </a:r>
            <a:r>
              <a:rPr lang="ru-RU" sz="700" dirty="0"/>
              <a:t> ipv4 </a:t>
            </a:r>
            <a:r>
              <a:rPr lang="ru-RU" sz="700" dirty="0" err="1"/>
              <a:t>unicast</a:t>
            </a:r>
            <a:endParaRPr lang="ru-RU" sz="700" dirty="0"/>
          </a:p>
          <a:p>
            <a:r>
              <a:rPr lang="ru-RU" sz="700" dirty="0"/>
              <a:t>      </a:t>
            </a:r>
            <a:r>
              <a:rPr lang="ru-RU" sz="700" dirty="0" err="1"/>
              <a:t>maximum-paths</a:t>
            </a:r>
            <a:r>
              <a:rPr lang="ru-RU" sz="700" dirty="0"/>
              <a:t> 4</a:t>
            </a:r>
          </a:p>
          <a:p>
            <a:r>
              <a:rPr lang="ru-RU" sz="700" dirty="0"/>
              <a:t>!</a:t>
            </a:r>
          </a:p>
          <a:p>
            <a:r>
              <a:rPr lang="ru-RU" sz="700" dirty="0" err="1"/>
              <a:t>end</a:t>
            </a:r>
            <a:endParaRPr lang="ru-RU" sz="700" dirty="0"/>
          </a:p>
          <a:p>
            <a:r>
              <a:rPr lang="ru-RU" sz="700" dirty="0"/>
              <a:t>Spine-A1#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972066" y="1970923"/>
            <a:ext cx="183673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700" b="1" dirty="0"/>
              <a:t>Super-Spine-1</a:t>
            </a:r>
            <a:r>
              <a:rPr lang="ru-RU" sz="700" dirty="0"/>
              <a:t>#sh </a:t>
            </a:r>
            <a:r>
              <a:rPr lang="ru-RU" sz="700" dirty="0" err="1"/>
              <a:t>run</a:t>
            </a:r>
            <a:endParaRPr lang="ru-RU" sz="700" dirty="0"/>
          </a:p>
          <a:p>
            <a:r>
              <a:rPr lang="ru-RU" sz="700" dirty="0" smtClean="0"/>
              <a:t>!</a:t>
            </a:r>
            <a:endParaRPr lang="ru-RU" sz="700" dirty="0"/>
          </a:p>
          <a:p>
            <a:r>
              <a:rPr lang="ru-RU" sz="700" dirty="0" err="1"/>
              <a:t>router</a:t>
            </a:r>
            <a:r>
              <a:rPr lang="ru-RU" sz="700" dirty="0"/>
              <a:t> </a:t>
            </a:r>
            <a:r>
              <a:rPr lang="ru-RU" sz="700" dirty="0" err="1"/>
              <a:t>isis</a:t>
            </a:r>
            <a:r>
              <a:rPr lang="ru-RU" sz="700" dirty="0"/>
              <a:t> 1</a:t>
            </a:r>
          </a:p>
          <a:p>
            <a:r>
              <a:rPr lang="ru-RU" sz="700" dirty="0"/>
              <a:t>   </a:t>
            </a:r>
            <a:r>
              <a:rPr lang="ru-RU" sz="700" dirty="0" err="1"/>
              <a:t>net</a:t>
            </a:r>
            <a:r>
              <a:rPr lang="ru-RU" sz="700" dirty="0"/>
              <a:t> 49.0001.0000.0000.0031.00</a:t>
            </a:r>
          </a:p>
          <a:p>
            <a:r>
              <a:rPr lang="ru-RU" sz="700" dirty="0"/>
              <a:t>   </a:t>
            </a:r>
            <a:r>
              <a:rPr lang="ru-RU" sz="700" dirty="0" err="1"/>
              <a:t>is-type</a:t>
            </a:r>
            <a:r>
              <a:rPr lang="ru-RU" sz="700" dirty="0"/>
              <a:t> level-2</a:t>
            </a:r>
          </a:p>
          <a:p>
            <a:r>
              <a:rPr lang="ru-RU" sz="700" dirty="0"/>
              <a:t>   </a:t>
            </a:r>
            <a:r>
              <a:rPr lang="ru-RU" sz="700" dirty="0" err="1"/>
              <a:t>log-adjacency-changes</a:t>
            </a:r>
            <a:endParaRPr lang="ru-RU" sz="700" dirty="0"/>
          </a:p>
          <a:p>
            <a:r>
              <a:rPr lang="ru-RU" sz="700" dirty="0"/>
              <a:t>   !</a:t>
            </a:r>
          </a:p>
          <a:p>
            <a:r>
              <a:rPr lang="ru-RU" sz="700" dirty="0"/>
              <a:t>   </a:t>
            </a:r>
            <a:r>
              <a:rPr lang="ru-RU" sz="700" dirty="0" err="1"/>
              <a:t>address-family</a:t>
            </a:r>
            <a:r>
              <a:rPr lang="ru-RU" sz="700" dirty="0"/>
              <a:t> ipv4 </a:t>
            </a:r>
            <a:r>
              <a:rPr lang="ru-RU" sz="700" dirty="0" err="1"/>
              <a:t>unicast</a:t>
            </a:r>
            <a:endParaRPr lang="ru-RU" sz="700" dirty="0"/>
          </a:p>
          <a:p>
            <a:r>
              <a:rPr lang="ru-RU" sz="700" dirty="0"/>
              <a:t>      </a:t>
            </a:r>
            <a:r>
              <a:rPr lang="ru-RU" sz="700" dirty="0" err="1"/>
              <a:t>maximum-paths</a:t>
            </a:r>
            <a:r>
              <a:rPr lang="ru-RU" sz="700" dirty="0"/>
              <a:t> 8</a:t>
            </a:r>
          </a:p>
          <a:p>
            <a:r>
              <a:rPr lang="ru-RU" sz="700" dirty="0"/>
              <a:t>!</a:t>
            </a:r>
          </a:p>
          <a:p>
            <a:r>
              <a:rPr lang="ru-RU" sz="700" dirty="0" err="1"/>
              <a:t>end</a:t>
            </a:r>
            <a:endParaRPr lang="ru-RU" sz="700" dirty="0"/>
          </a:p>
          <a:p>
            <a:r>
              <a:rPr lang="ru-RU" sz="700" dirty="0"/>
              <a:t>Super-Spine-1#</a:t>
            </a:r>
          </a:p>
        </p:txBody>
      </p:sp>
    </p:spTree>
    <p:extLst>
      <p:ext uri="{BB962C8B-B14F-4D97-AF65-F5344CB8AC3E}">
        <p14:creationId xmlns:p14="http://schemas.microsoft.com/office/powerpoint/2010/main" val="3352025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200199" y="284001"/>
            <a:ext cx="7288686" cy="1471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 smtClean="0"/>
              <a:t>Выполняемые работы</a:t>
            </a:r>
            <a:br>
              <a:rPr lang="ru-RU" sz="3000" dirty="0" smtClean="0"/>
            </a:br>
            <a: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  <a:t>1. Строим физику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  <a:t>2. Планируем адресацию</a:t>
            </a:r>
            <a:r>
              <a:rPr lang="ru-RU" sz="1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  <a:t>(вторая </a:t>
            </a:r>
            <a:r>
              <a:rPr lang="ru-RU" sz="1000" dirty="0">
                <a:solidFill>
                  <a:schemeClr val="bg1">
                    <a:lumMod val="75000"/>
                  </a:schemeClr>
                </a:solidFill>
              </a:rPr>
              <a:t>часть)</a:t>
            </a:r>
            <a: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  <a:t/>
            </a:r>
            <a:b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</a:br>
            <a:r>
              <a:rPr lang="ru-RU" sz="1000" dirty="0" smtClean="0">
                <a:solidFill>
                  <a:schemeClr val="bg1">
                    <a:lumMod val="75000"/>
                  </a:schemeClr>
                </a:solidFill>
              </a:rPr>
              <a:t>3. Определяемся с ролями узлов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en-US" sz="2000" dirty="0">
                <a:solidFill>
                  <a:schemeClr val="tx1"/>
                </a:solidFill>
              </a:rPr>
              <a:t>4</a:t>
            </a:r>
            <a:r>
              <a:rPr lang="ru-RU" sz="2000" dirty="0">
                <a:solidFill>
                  <a:schemeClr val="tx1"/>
                </a:solidFill>
              </a:rPr>
              <a:t>. </a:t>
            </a:r>
            <a:r>
              <a:rPr lang="ru-RU" sz="2000" dirty="0" smtClean="0">
                <a:solidFill>
                  <a:schemeClr val="tx1"/>
                </a:solidFill>
              </a:rPr>
              <a:t>Настраиваем всё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9" name="Google Shape;172;p38">
            <a:extLst>
              <a:ext uri="{FF2B5EF4-FFF2-40B4-BE49-F238E27FC236}">
                <a16:creationId xmlns:a16="http://schemas.microsoft.com/office/drawing/2014/main" id="{4558C006-18D9-4011-911C-2473CC233C07}"/>
              </a:ext>
            </a:extLst>
          </p:cNvPr>
          <p:cNvSpPr/>
          <p:nvPr/>
        </p:nvSpPr>
        <p:spPr>
          <a:xfrm>
            <a:off x="0" y="4921625"/>
            <a:ext cx="2918012" cy="2218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 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00199" y="1681965"/>
            <a:ext cx="27178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900" b="1" dirty="0" err="1" smtClean="0"/>
              <a:t>Конфиг</a:t>
            </a:r>
            <a:r>
              <a:rPr lang="ru-RU" sz="900" b="1" dirty="0" smtClean="0"/>
              <a:t> </a:t>
            </a:r>
            <a:r>
              <a:rPr lang="en-US" sz="900" b="1" dirty="0" smtClean="0"/>
              <a:t>Leaf</a:t>
            </a:r>
            <a:r>
              <a:rPr lang="ru-RU" sz="900" b="1" dirty="0" smtClean="0"/>
              <a:t>2 и </a:t>
            </a:r>
            <a:r>
              <a:rPr lang="en-US" sz="900" b="1" dirty="0" smtClean="0"/>
              <a:t>Spine</a:t>
            </a:r>
            <a:r>
              <a:rPr lang="ru-RU" sz="900" b="1" dirty="0" smtClean="0"/>
              <a:t>2 в </a:t>
            </a:r>
            <a:r>
              <a:rPr lang="en-US" sz="900" b="1" dirty="0" smtClean="0"/>
              <a:t>POD’</a:t>
            </a:r>
            <a:r>
              <a:rPr lang="ru-RU" sz="900" b="1" dirty="0" smtClean="0"/>
              <a:t>е1</a:t>
            </a:r>
            <a:br>
              <a:rPr lang="ru-RU" sz="900" b="1" dirty="0" smtClean="0"/>
            </a:br>
            <a:r>
              <a:rPr lang="ru-RU" sz="900" b="1" dirty="0" smtClean="0"/>
              <a:t>Практически дублируют первые</a:t>
            </a:r>
            <a:br>
              <a:rPr lang="ru-RU" sz="900" b="1" dirty="0" smtClean="0"/>
            </a:br>
            <a:r>
              <a:rPr lang="ru-RU" sz="900" b="1" dirty="0" smtClean="0"/>
              <a:t>Уникальны </a:t>
            </a:r>
            <a:r>
              <a:rPr lang="en-US" sz="900" b="1" dirty="0" smtClean="0"/>
              <a:t>Peer, Lo </a:t>
            </a:r>
            <a:r>
              <a:rPr lang="ru-RU" sz="900" b="1" dirty="0" smtClean="0"/>
              <a:t>и </a:t>
            </a:r>
            <a:r>
              <a:rPr lang="en-US" sz="900" b="1" dirty="0" smtClean="0"/>
              <a:t>Description </a:t>
            </a:r>
            <a:r>
              <a:rPr lang="ru-RU" sz="900" b="1" dirty="0" smtClean="0"/>
              <a:t>и т.п.</a:t>
            </a:r>
            <a:br>
              <a:rPr lang="ru-RU" sz="900" b="1" dirty="0" smtClean="0"/>
            </a:br>
            <a:r>
              <a:rPr lang="ru-RU" sz="900" b="1" dirty="0" smtClean="0"/>
              <a:t>исключение в </a:t>
            </a:r>
            <a:r>
              <a:rPr lang="en-US" sz="900" b="1" dirty="0" smtClean="0"/>
              <a:t>BGP </a:t>
            </a:r>
            <a:r>
              <a:rPr lang="ru-RU" sz="900" b="1" dirty="0" smtClean="0"/>
              <a:t>т.к. только </a:t>
            </a:r>
            <a:r>
              <a:rPr lang="en-US" sz="900" b="1" dirty="0" smtClean="0"/>
              <a:t>L-A1 RR</a:t>
            </a:r>
            <a:endParaRPr lang="ru-RU" sz="9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737" y="1027866"/>
            <a:ext cx="5513800" cy="3893759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200198" y="2408368"/>
            <a:ext cx="31370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900" b="1" dirty="0" smtClean="0"/>
              <a:t>Дублируем </a:t>
            </a:r>
            <a:r>
              <a:rPr lang="ru-RU" sz="900" b="1" dirty="0" err="1" smtClean="0"/>
              <a:t>конфиг</a:t>
            </a:r>
            <a:r>
              <a:rPr lang="en-US" sz="900" b="1" dirty="0" smtClean="0"/>
              <a:t> POD-A </a:t>
            </a:r>
            <a:r>
              <a:rPr lang="ru-RU" sz="900" b="1" dirty="0" smtClean="0"/>
              <a:t>в </a:t>
            </a:r>
            <a:r>
              <a:rPr lang="en-US" sz="900" b="1" dirty="0" smtClean="0"/>
              <a:t>POD-B</a:t>
            </a:r>
          </a:p>
          <a:p>
            <a:r>
              <a:rPr lang="ru-RU" sz="900" b="1" dirty="0" smtClean="0"/>
              <a:t>С учётом индивидуальностей конечн</a:t>
            </a:r>
            <a:r>
              <a:rPr lang="ru-RU" sz="900" b="1" dirty="0"/>
              <a:t>о</a:t>
            </a:r>
            <a:endParaRPr lang="ru-RU" sz="9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197481" y="4010556"/>
            <a:ext cx="332391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900" b="1" dirty="0" smtClean="0"/>
              <a:t>Не забываем </a:t>
            </a:r>
            <a:r>
              <a:rPr lang="ru-RU" sz="900" b="1" u="sng" dirty="0" smtClean="0"/>
              <a:t>регулярно</a:t>
            </a:r>
            <a:r>
              <a:rPr lang="ru-RU" sz="900" b="1" dirty="0" smtClean="0"/>
              <a:t>:</a:t>
            </a:r>
            <a:br>
              <a:rPr lang="ru-RU" sz="900" b="1" dirty="0" smtClean="0"/>
            </a:br>
            <a:r>
              <a:rPr lang="en-US" sz="900" b="1" dirty="0" err="1" smtClean="0"/>
              <a:t>wr</a:t>
            </a:r>
            <a:r>
              <a:rPr lang="en-US" sz="900" b="1" dirty="0" smtClean="0"/>
              <a:t> mem</a:t>
            </a:r>
            <a:r>
              <a:rPr lang="ru-RU" sz="900" b="1" dirty="0"/>
              <a:t/>
            </a:r>
            <a:br>
              <a:rPr lang="ru-RU" sz="900" b="1" dirty="0"/>
            </a:br>
            <a:r>
              <a:rPr lang="en-US" sz="900" b="1" dirty="0" err="1" smtClean="0"/>
              <a:t>sh</a:t>
            </a:r>
            <a:r>
              <a:rPr lang="en-US" sz="900" b="1" dirty="0" smtClean="0"/>
              <a:t> run</a:t>
            </a:r>
            <a:r>
              <a:rPr lang="ru-RU" sz="900" b="1" dirty="0" smtClean="0"/>
              <a:t> (контроль применения)</a:t>
            </a:r>
            <a:br>
              <a:rPr lang="ru-RU" sz="900" b="1" dirty="0" smtClean="0"/>
            </a:br>
            <a:r>
              <a:rPr lang="ru-RU" sz="900" b="1" dirty="0" smtClean="0"/>
              <a:t/>
            </a:r>
            <a:br>
              <a:rPr lang="ru-RU" sz="900" b="1" dirty="0" smtClean="0"/>
            </a:br>
            <a:r>
              <a:rPr lang="ru-RU" sz="900" b="1" dirty="0" smtClean="0"/>
              <a:t>и хотя бы изредка, </a:t>
            </a:r>
            <a:r>
              <a:rPr lang="ru-RU" sz="900" b="1" dirty="0" err="1" smtClean="0"/>
              <a:t>бекапить</a:t>
            </a:r>
            <a:r>
              <a:rPr lang="ru-RU" sz="900" b="1" dirty="0" smtClean="0"/>
              <a:t> </a:t>
            </a:r>
            <a:r>
              <a:rPr lang="ru-RU" sz="900" b="1" dirty="0" err="1" smtClean="0"/>
              <a:t>конфиг</a:t>
            </a:r>
            <a:r>
              <a:rPr lang="ru-RU" sz="900" b="1" dirty="0" smtClean="0"/>
              <a:t> из </a:t>
            </a:r>
            <a:r>
              <a:rPr lang="ru-RU" sz="900" b="1" dirty="0" err="1" smtClean="0"/>
              <a:t>лабы</a:t>
            </a:r>
            <a:r>
              <a:rPr lang="ru-RU" sz="900" b="1" dirty="0" smtClean="0"/>
              <a:t/>
            </a:r>
            <a:br>
              <a:rPr lang="ru-RU" sz="900" b="1" dirty="0" smtClean="0"/>
            </a:br>
            <a:r>
              <a:rPr lang="ru-RU" sz="900" dirty="0" smtClean="0"/>
              <a:t>во избежание </a:t>
            </a:r>
            <a:r>
              <a:rPr lang="ru-RU" sz="900" dirty="0" err="1" smtClean="0"/>
              <a:t>попажара</a:t>
            </a:r>
            <a:r>
              <a:rPr lang="ru-RU" sz="900" dirty="0" smtClean="0"/>
              <a:t> с </a:t>
            </a:r>
            <a:r>
              <a:rPr lang="ru-RU" sz="900" dirty="0" err="1" smtClean="0"/>
              <a:t>попаболью</a:t>
            </a:r>
            <a:endParaRPr lang="ru-RU" sz="900" dirty="0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002735"/>
              </p:ext>
            </p:extLst>
          </p:nvPr>
        </p:nvGraphicFramePr>
        <p:xfrm>
          <a:off x="4133684" y="4635058"/>
          <a:ext cx="500561" cy="397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8" name="Объект упаковщика для оболочки" showAsIcon="1" r:id="rId5" imgW="647725" imgH="514350" progId="Package">
                  <p:embed/>
                </p:oleObj>
              </mc:Choice>
              <mc:Fallback>
                <p:oleObj name="Объект упаковщика для оболочки" showAsIcon="1" r:id="rId5" imgW="64772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33684" y="4635058"/>
                        <a:ext cx="500561" cy="3975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05487"/>
              </p:ext>
            </p:extLst>
          </p:nvPr>
        </p:nvGraphicFramePr>
        <p:xfrm>
          <a:off x="7179110" y="4635058"/>
          <a:ext cx="489870" cy="406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9" name="Объект упаковщика для оболочки" showAsIcon="1" r:id="rId7" imgW="618978" imgH="514350" progId="Package">
                  <p:embed/>
                </p:oleObj>
              </mc:Choice>
              <mc:Fallback>
                <p:oleObj name="Объект упаковщика для оболочки" showAsIcon="1" r:id="rId7" imgW="618978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79110" y="4635058"/>
                        <a:ext cx="489870" cy="4069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8740901"/>
              </p:ext>
            </p:extLst>
          </p:nvPr>
        </p:nvGraphicFramePr>
        <p:xfrm>
          <a:off x="7602469" y="3532153"/>
          <a:ext cx="443573" cy="357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" name="Объект упаковщика для оболочки" showAsIcon="1" r:id="rId9" imgW="638245" imgH="514350" progId="Package">
                  <p:embed/>
                </p:oleObj>
              </mc:Choice>
              <mc:Fallback>
                <p:oleObj name="Объект упаковщика для оболочки" showAsIcon="1" r:id="rId9" imgW="63824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02469" y="3532153"/>
                        <a:ext cx="443573" cy="3575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Объект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9825234"/>
              </p:ext>
            </p:extLst>
          </p:nvPr>
        </p:nvGraphicFramePr>
        <p:xfrm>
          <a:off x="3542383" y="3613452"/>
          <a:ext cx="529472" cy="397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1" name="Объект упаковщика для оболочки" showAsIcon="1" r:id="rId11" imgW="685953" imgH="514350" progId="Package">
                  <p:embed/>
                </p:oleObj>
              </mc:Choice>
              <mc:Fallback>
                <p:oleObj name="Объект упаковщика для оболочки" showAsIcon="1" r:id="rId11" imgW="685953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42383" y="3613452"/>
                        <a:ext cx="529472" cy="397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Объект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827542"/>
              </p:ext>
            </p:extLst>
          </p:nvPr>
        </p:nvGraphicFramePr>
        <p:xfrm>
          <a:off x="4628988" y="3597896"/>
          <a:ext cx="545636" cy="409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2" name="Объект упаковщика для оболочки" showAsIcon="1" r:id="rId13" imgW="685953" imgH="514350" progId="Package">
                  <p:embed/>
                </p:oleObj>
              </mc:Choice>
              <mc:Fallback>
                <p:oleObj name="Объект упаковщика для оболочки" showAsIcon="1" r:id="rId13" imgW="685953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28988" y="3597896"/>
                        <a:ext cx="545636" cy="409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Объект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483062"/>
              </p:ext>
            </p:extLst>
          </p:nvPr>
        </p:nvGraphicFramePr>
        <p:xfrm>
          <a:off x="6734351" y="3522165"/>
          <a:ext cx="496321" cy="377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" name="Объект упаковщика для оболочки" showAsIcon="1" r:id="rId15" imgW="676167" imgH="514350" progId="Package">
                  <p:embed/>
                </p:oleObj>
              </mc:Choice>
              <mc:Fallback>
                <p:oleObj name="Объект упаковщика для оболочки" showAsIcon="1" r:id="rId15" imgW="67616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34351" y="3522165"/>
                        <a:ext cx="496321" cy="3774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294019"/>
              </p:ext>
            </p:extLst>
          </p:nvPr>
        </p:nvGraphicFramePr>
        <p:xfrm>
          <a:off x="6982511" y="1078498"/>
          <a:ext cx="827612" cy="388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" name="Объект упаковщика для оболочки" showAsIcon="1" r:id="rId17" imgW="1095445" imgH="514350" progId="Package">
                  <p:embed/>
                </p:oleObj>
              </mc:Choice>
              <mc:Fallback>
                <p:oleObj name="Объект упаковщика для оболочки" showAsIcon="1" r:id="rId17" imgW="109544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82511" y="1078498"/>
                        <a:ext cx="827612" cy="3886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Объект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338454"/>
              </p:ext>
            </p:extLst>
          </p:nvPr>
        </p:nvGraphicFramePr>
        <p:xfrm>
          <a:off x="3969275" y="1126807"/>
          <a:ext cx="829378" cy="389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5" name="Объект упаковщика для оболочки" showAsIcon="1" r:id="rId19" imgW="1095445" imgH="514350" progId="Package">
                  <p:embed/>
                </p:oleObj>
              </mc:Choice>
              <mc:Fallback>
                <p:oleObj name="Объект упаковщика для оболочки" showAsIcon="1" r:id="rId19" imgW="109544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969275" y="1126807"/>
                        <a:ext cx="829378" cy="389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Объект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9107611"/>
              </p:ext>
            </p:extLst>
          </p:nvPr>
        </p:nvGraphicFramePr>
        <p:xfrm>
          <a:off x="7602469" y="2350508"/>
          <a:ext cx="543173" cy="366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" name="Объект упаковщика для оболочки" showAsIcon="1" r:id="rId21" imgW="762102" imgH="514350" progId="Package">
                  <p:embed/>
                </p:oleObj>
              </mc:Choice>
              <mc:Fallback>
                <p:oleObj name="Объект упаковщика для оболочки" showAsIcon="1" r:id="rId21" imgW="762102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602469" y="2350508"/>
                        <a:ext cx="543173" cy="3666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Объект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486422"/>
              </p:ext>
            </p:extLst>
          </p:nvPr>
        </p:nvGraphicFramePr>
        <p:xfrm>
          <a:off x="6669818" y="2378943"/>
          <a:ext cx="509292" cy="343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7" name="Объект упаковщика для оболочки" showAsIcon="1" r:id="rId23" imgW="762102" imgH="514350" progId="Package">
                  <p:embed/>
                </p:oleObj>
              </mc:Choice>
              <mc:Fallback>
                <p:oleObj name="Объект упаковщика для оболочки" showAsIcon="1" r:id="rId23" imgW="762102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669818" y="2378943"/>
                        <a:ext cx="509292" cy="3437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Объект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1402140"/>
              </p:ext>
            </p:extLst>
          </p:nvPr>
        </p:nvGraphicFramePr>
        <p:xfrm>
          <a:off x="4693001" y="2355264"/>
          <a:ext cx="619557" cy="41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8" name="Объект упаковщика для оболочки" showAsIcon="1" r:id="rId25" imgW="771582" imgH="514350" progId="Package">
                  <p:embed/>
                </p:oleObj>
              </mc:Choice>
              <mc:Fallback>
                <p:oleObj name="Объект упаковщика для оболочки" showAsIcon="1" r:id="rId25" imgW="771582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693001" y="2355264"/>
                        <a:ext cx="619557" cy="413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Объект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448822"/>
              </p:ext>
            </p:extLst>
          </p:nvPr>
        </p:nvGraphicFramePr>
        <p:xfrm>
          <a:off x="3545393" y="2356215"/>
          <a:ext cx="616706" cy="4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9" name="Объект упаковщика для оболочки" showAsIcon="1" r:id="rId27" imgW="771582" imgH="514350" progId="Package">
                  <p:embed/>
                </p:oleObj>
              </mc:Choice>
              <mc:Fallback>
                <p:oleObj name="Объект упаковщика для оболочки" showAsIcon="1" r:id="rId27" imgW="771582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545393" y="2356215"/>
                        <a:ext cx="616706" cy="41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0879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0" y="-105197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</a:t>
            </a:r>
            <a:r>
              <a:rPr lang="ru" sz="3000" dirty="0" smtClean="0"/>
              <a:t>получилось</a:t>
            </a:r>
            <a:r>
              <a:rPr lang="en-US" sz="3000" dirty="0"/>
              <a:t>?</a:t>
            </a:r>
            <a:endParaRPr sz="3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-1638" y="1269965"/>
            <a:ext cx="26914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 smtClean="0"/>
              <a:t>После </a:t>
            </a:r>
            <a:r>
              <a:rPr lang="en-US" sz="1200" b="1" dirty="0" smtClean="0"/>
              <a:t>N</a:t>
            </a:r>
            <a:r>
              <a:rPr lang="ru-RU" sz="1200" b="1" dirty="0" smtClean="0"/>
              <a:t>-</a:t>
            </a:r>
            <a:r>
              <a:rPr lang="ru-RU" sz="1200" b="1" dirty="0" err="1" smtClean="0"/>
              <a:t>иттераций</a:t>
            </a:r>
            <a:r>
              <a:rPr lang="ru-RU" sz="1200" b="1" dirty="0" smtClean="0"/>
              <a:t> отладки =)</a:t>
            </a:r>
          </a:p>
          <a:p>
            <a:r>
              <a:rPr lang="ru-RU" sz="1200" b="1" dirty="0" smtClean="0"/>
              <a:t>Проверяем работу архитектуры </a:t>
            </a:r>
          </a:p>
          <a:p>
            <a:r>
              <a:rPr lang="ru-RU" sz="1200" b="1" dirty="0" smtClean="0"/>
              <a:t>снизу вверх (</a:t>
            </a:r>
            <a:r>
              <a:rPr lang="ru-RU" sz="1200" b="1" dirty="0" err="1" smtClean="0"/>
              <a:t>начём</a:t>
            </a:r>
            <a:r>
              <a:rPr lang="ru-RU" sz="1200" b="1" dirty="0" smtClean="0"/>
              <a:t> со </a:t>
            </a:r>
            <a:r>
              <a:rPr lang="en-US" sz="1200" b="1" dirty="0" smtClean="0"/>
              <a:t>Spin’</a:t>
            </a:r>
            <a:r>
              <a:rPr lang="ru-RU" sz="1200" b="1" dirty="0" err="1" smtClean="0"/>
              <a:t>ов</a:t>
            </a:r>
            <a:r>
              <a:rPr lang="ru-RU" sz="1200" b="1" dirty="0" smtClean="0"/>
              <a:t>)</a:t>
            </a:r>
          </a:p>
          <a:p>
            <a:endParaRPr lang="ru-RU" sz="1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522" y="677123"/>
            <a:ext cx="6427966" cy="406068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2338567"/>
            <a:ext cx="292341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1" dirty="0" smtClean="0"/>
              <a:t/>
            </a:r>
            <a:br>
              <a:rPr lang="en-US" sz="800" b="1" dirty="0" smtClean="0"/>
            </a:br>
            <a:r>
              <a:rPr lang="en-US" sz="800" b="1" dirty="0" smtClean="0"/>
              <a:t>1. </a:t>
            </a:r>
            <a:r>
              <a:rPr lang="ru-RU" sz="800" b="1" dirty="0" smtClean="0"/>
              <a:t>В </a:t>
            </a:r>
            <a:r>
              <a:rPr lang="en-US" sz="800" b="1" dirty="0"/>
              <a:t>POD-A </a:t>
            </a:r>
            <a:r>
              <a:rPr lang="ru-RU" sz="800" b="1" dirty="0" smtClean="0"/>
              <a:t>наSpine-A1</a:t>
            </a:r>
            <a:r>
              <a:rPr lang="ru-RU" sz="800" dirty="0"/>
              <a:t/>
            </a:r>
            <a:br>
              <a:rPr lang="ru-RU" sz="800" dirty="0"/>
            </a:br>
            <a:r>
              <a:rPr lang="ru-RU" sz="800" dirty="0" smtClean="0"/>
              <a:t/>
            </a:r>
            <a:br>
              <a:rPr lang="ru-RU" sz="800" dirty="0" smtClean="0"/>
            </a:br>
            <a:r>
              <a:rPr lang="ru-RU" sz="800" dirty="0" smtClean="0"/>
              <a:t>командой «</a:t>
            </a:r>
            <a:r>
              <a:rPr lang="en-US" sz="800" dirty="0" err="1" smtClean="0"/>
              <a:t>sh</a:t>
            </a:r>
            <a:r>
              <a:rPr lang="en-US" sz="800" dirty="0" smtClean="0"/>
              <a:t> </a:t>
            </a:r>
            <a:r>
              <a:rPr lang="en-US" sz="800" dirty="0" err="1" smtClean="0"/>
              <a:t>ip</a:t>
            </a:r>
            <a:r>
              <a:rPr lang="en-US" sz="800" dirty="0" smtClean="0"/>
              <a:t> route </a:t>
            </a:r>
            <a:r>
              <a:rPr lang="en-US" sz="800" dirty="0" err="1" smtClean="0"/>
              <a:t>isis</a:t>
            </a:r>
            <a:r>
              <a:rPr lang="ru-RU" sz="800" dirty="0" smtClean="0"/>
              <a:t>»</a:t>
            </a:r>
            <a:endParaRPr lang="ru-RU" sz="800" dirty="0"/>
          </a:p>
          <a:p>
            <a:endParaRPr lang="en-US" sz="800" dirty="0"/>
          </a:p>
          <a:p>
            <a:r>
              <a:rPr lang="ru-RU" sz="800" dirty="0" smtClean="0"/>
              <a:t>Посмотрим </a:t>
            </a:r>
            <a:r>
              <a:rPr lang="ru-RU" sz="800" dirty="0" err="1" smtClean="0"/>
              <a:t>андерлей</a:t>
            </a:r>
            <a:r>
              <a:rPr lang="ru-RU" sz="800" dirty="0" smtClean="0"/>
              <a:t>-маршруты с одной стороны</a:t>
            </a:r>
            <a:br>
              <a:rPr lang="ru-RU" sz="800" dirty="0" smtClean="0"/>
            </a:br>
            <a:r>
              <a:rPr lang="ru-RU" sz="800" dirty="0" smtClean="0"/>
              <a:t/>
            </a:r>
            <a:br>
              <a:rPr lang="ru-RU" sz="800" dirty="0" smtClean="0"/>
            </a:br>
            <a:endParaRPr lang="ru-RU" sz="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634" y="3077374"/>
            <a:ext cx="2436175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b="1" dirty="0" smtClean="0"/>
              <a:t/>
            </a:r>
            <a:br>
              <a:rPr lang="en-US" sz="700" b="1" dirty="0" smtClean="0"/>
            </a:br>
            <a:r>
              <a:rPr lang="ru-RU" sz="700" b="1" dirty="0" smtClean="0"/>
              <a:t>2</a:t>
            </a:r>
            <a:r>
              <a:rPr lang="en-US" sz="700" b="1" dirty="0" smtClean="0"/>
              <a:t>. </a:t>
            </a:r>
            <a:r>
              <a:rPr lang="ru-RU" sz="700" b="1" dirty="0" smtClean="0"/>
              <a:t>В </a:t>
            </a:r>
            <a:r>
              <a:rPr lang="en-US" sz="700" b="1" dirty="0" smtClean="0"/>
              <a:t>POD-</a:t>
            </a:r>
            <a:r>
              <a:rPr lang="en-US" sz="700" b="1" dirty="0"/>
              <a:t>B</a:t>
            </a:r>
            <a:r>
              <a:rPr lang="en-US" sz="700" b="1" dirty="0" smtClean="0"/>
              <a:t> </a:t>
            </a:r>
            <a:r>
              <a:rPr lang="ru-RU" sz="700" b="1" dirty="0" err="1" smtClean="0"/>
              <a:t>наSpine</a:t>
            </a:r>
            <a:r>
              <a:rPr lang="ru-RU" sz="700" b="1" dirty="0" smtClean="0"/>
              <a:t>-</a:t>
            </a:r>
            <a:r>
              <a:rPr lang="en-US" sz="700" b="1" dirty="0" smtClean="0"/>
              <a:t>B</a:t>
            </a:r>
            <a:r>
              <a:rPr lang="en-US" sz="700" b="1" dirty="0"/>
              <a:t>2</a:t>
            </a:r>
            <a:r>
              <a:rPr lang="ru-RU" sz="700" b="1" dirty="0"/>
              <a:t/>
            </a:r>
            <a:br>
              <a:rPr lang="ru-RU" sz="700" b="1" dirty="0"/>
            </a:br>
            <a:r>
              <a:rPr lang="ru-RU" sz="700" dirty="0" smtClean="0"/>
              <a:t/>
            </a:r>
            <a:br>
              <a:rPr lang="ru-RU" sz="700" dirty="0" smtClean="0"/>
            </a:br>
            <a:r>
              <a:rPr lang="ru-RU" sz="700" dirty="0" smtClean="0"/>
              <a:t>командой «</a:t>
            </a:r>
            <a:r>
              <a:rPr lang="en-US" sz="700" dirty="0" err="1" smtClean="0"/>
              <a:t>sh</a:t>
            </a:r>
            <a:r>
              <a:rPr lang="en-US" sz="700" dirty="0" smtClean="0"/>
              <a:t> </a:t>
            </a:r>
            <a:r>
              <a:rPr lang="en-US" sz="700" dirty="0" err="1" smtClean="0"/>
              <a:t>isis</a:t>
            </a:r>
            <a:r>
              <a:rPr lang="en-US" sz="700" dirty="0" smtClean="0"/>
              <a:t> </a:t>
            </a:r>
            <a:r>
              <a:rPr lang="en-US" sz="700" dirty="0" err="1" smtClean="0"/>
              <a:t>neighboar</a:t>
            </a:r>
            <a:r>
              <a:rPr lang="ru-RU" sz="700" dirty="0" smtClean="0"/>
              <a:t>»</a:t>
            </a:r>
            <a:endParaRPr lang="ru-RU" sz="700" dirty="0"/>
          </a:p>
          <a:p>
            <a:endParaRPr lang="en-US" sz="700" dirty="0"/>
          </a:p>
          <a:p>
            <a:r>
              <a:rPr lang="ru-RU" sz="700" dirty="0" smtClean="0"/>
              <a:t>Посмотрим </a:t>
            </a:r>
            <a:r>
              <a:rPr lang="en-US" sz="700" dirty="0" err="1" smtClean="0"/>
              <a:t>isis</a:t>
            </a:r>
            <a:r>
              <a:rPr lang="en-US" sz="700" dirty="0" smtClean="0"/>
              <a:t> - </a:t>
            </a:r>
            <a:r>
              <a:rPr lang="ru-RU" sz="700" dirty="0" smtClean="0"/>
              <a:t>соседей</a:t>
            </a:r>
            <a:br>
              <a:rPr lang="ru-RU" sz="700" dirty="0" smtClean="0"/>
            </a:br>
            <a:endParaRPr lang="ru-RU" sz="7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678" y="2643678"/>
            <a:ext cx="3837810" cy="60503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638" y="3831024"/>
            <a:ext cx="2436175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b="1" dirty="0" smtClean="0"/>
              <a:t/>
            </a:r>
            <a:br>
              <a:rPr lang="en-US" sz="700" b="1" dirty="0" smtClean="0"/>
            </a:br>
            <a:r>
              <a:rPr lang="en-US" sz="700" b="1" dirty="0"/>
              <a:t>3</a:t>
            </a:r>
            <a:r>
              <a:rPr lang="en-US" sz="700" b="1" dirty="0" smtClean="0"/>
              <a:t>. </a:t>
            </a:r>
            <a:r>
              <a:rPr lang="ru-RU" sz="700" b="1" dirty="0" smtClean="0"/>
              <a:t>В </a:t>
            </a:r>
            <a:r>
              <a:rPr lang="en-US" sz="700" b="1" dirty="0" smtClean="0"/>
              <a:t>POD-</a:t>
            </a:r>
            <a:r>
              <a:rPr lang="en-US" sz="700" b="1" dirty="0"/>
              <a:t>A</a:t>
            </a:r>
            <a:r>
              <a:rPr lang="en-US" sz="700" b="1" dirty="0" smtClean="0"/>
              <a:t> </a:t>
            </a:r>
            <a:r>
              <a:rPr lang="ru-RU" sz="700" b="1" dirty="0" smtClean="0"/>
              <a:t>на</a:t>
            </a:r>
            <a:r>
              <a:rPr lang="en-US" sz="700" b="1" dirty="0" smtClean="0"/>
              <a:t> Leaf</a:t>
            </a:r>
            <a:r>
              <a:rPr lang="ru-RU" sz="700" b="1" dirty="0" smtClean="0"/>
              <a:t>-</a:t>
            </a:r>
            <a:r>
              <a:rPr lang="en-US" sz="700" b="1" dirty="0" smtClean="0"/>
              <a:t>A</a:t>
            </a:r>
            <a:r>
              <a:rPr lang="en-US" sz="700" b="1" dirty="0"/>
              <a:t>1</a:t>
            </a:r>
            <a:r>
              <a:rPr lang="ru-RU" sz="700" b="1" dirty="0"/>
              <a:t/>
            </a:r>
            <a:br>
              <a:rPr lang="ru-RU" sz="700" b="1" dirty="0"/>
            </a:br>
            <a:r>
              <a:rPr lang="ru-RU" sz="700" dirty="0" smtClean="0"/>
              <a:t/>
            </a:r>
            <a:br>
              <a:rPr lang="ru-RU" sz="700" dirty="0" smtClean="0"/>
            </a:br>
            <a:r>
              <a:rPr lang="ru-RU" sz="700" dirty="0" smtClean="0"/>
              <a:t>командой «</a:t>
            </a:r>
            <a:r>
              <a:rPr lang="en-US" sz="700" dirty="0" err="1" smtClean="0"/>
              <a:t>sh</a:t>
            </a:r>
            <a:r>
              <a:rPr lang="en-US" sz="700" dirty="0" smtClean="0"/>
              <a:t> </a:t>
            </a:r>
            <a:r>
              <a:rPr lang="en-US" sz="700" dirty="0" err="1" smtClean="0"/>
              <a:t>isis</a:t>
            </a:r>
            <a:r>
              <a:rPr lang="en-US" sz="700" dirty="0" smtClean="0"/>
              <a:t> </a:t>
            </a:r>
            <a:r>
              <a:rPr lang="en-US" sz="700" dirty="0" err="1" smtClean="0"/>
              <a:t>neighboar</a:t>
            </a:r>
            <a:r>
              <a:rPr lang="ru-RU" sz="700" dirty="0" smtClean="0"/>
              <a:t>»</a:t>
            </a:r>
            <a:endParaRPr lang="ru-RU" sz="700" dirty="0"/>
          </a:p>
          <a:p>
            <a:endParaRPr lang="en-US" sz="700" dirty="0"/>
          </a:p>
          <a:p>
            <a:r>
              <a:rPr lang="ru-RU" sz="700" dirty="0" smtClean="0"/>
              <a:t>Посмотрим </a:t>
            </a:r>
            <a:r>
              <a:rPr lang="en-US" sz="700" dirty="0" err="1" smtClean="0"/>
              <a:t>isis</a:t>
            </a:r>
            <a:r>
              <a:rPr lang="en-US" sz="700" dirty="0" smtClean="0"/>
              <a:t> - </a:t>
            </a:r>
            <a:r>
              <a:rPr lang="ru-RU" sz="700" dirty="0" smtClean="0"/>
              <a:t>соседей</a:t>
            </a:r>
            <a:br>
              <a:rPr lang="ru-RU" sz="700" dirty="0" smtClean="0"/>
            </a:br>
            <a:endParaRPr lang="ru-RU" sz="7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570695"/>
            <a:ext cx="26914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 smtClean="0"/>
              <a:t>Приблизились к решению</a:t>
            </a:r>
          </a:p>
          <a:p>
            <a:r>
              <a:rPr lang="ru-RU" sz="1200" b="1" dirty="0" smtClean="0"/>
              <a:t>Поставленной цели</a:t>
            </a:r>
            <a:endParaRPr lang="ru-RU" sz="1200" dirty="0"/>
          </a:p>
        </p:txBody>
      </p:sp>
      <p:sp>
        <p:nvSpPr>
          <p:cNvPr id="11" name="Google Shape;172;p38">
            <a:extLst>
              <a:ext uri="{FF2B5EF4-FFF2-40B4-BE49-F238E27FC236}">
                <a16:creationId xmlns:a16="http://schemas.microsoft.com/office/drawing/2014/main" id="{4558C006-18D9-4011-911C-2473CC233C07}"/>
              </a:ext>
            </a:extLst>
          </p:cNvPr>
          <p:cNvSpPr/>
          <p:nvPr/>
        </p:nvSpPr>
        <p:spPr>
          <a:xfrm>
            <a:off x="0" y="4921625"/>
            <a:ext cx="2918012" cy="2218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 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0" y="-105197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</a:t>
            </a:r>
            <a:r>
              <a:rPr lang="ru" sz="3000" dirty="0" smtClean="0"/>
              <a:t>получилось</a:t>
            </a:r>
            <a:r>
              <a:rPr lang="en-US" sz="3000" dirty="0" smtClean="0"/>
              <a:t>?</a:t>
            </a:r>
            <a:endParaRPr sz="3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999" y="1414456"/>
            <a:ext cx="7677645" cy="316718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570695"/>
            <a:ext cx="26914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 smtClean="0"/>
              <a:t>Приблизились к решению</a:t>
            </a:r>
          </a:p>
          <a:p>
            <a:r>
              <a:rPr lang="ru-RU" sz="1200" b="1" dirty="0" smtClean="0"/>
              <a:t>Поставленной цели</a:t>
            </a:r>
            <a:endParaRPr lang="ru-RU" sz="1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1183624"/>
            <a:ext cx="26914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 smtClean="0"/>
              <a:t>Теперь пощупаем </a:t>
            </a:r>
            <a:r>
              <a:rPr lang="en-US" sz="1200" b="1" dirty="0" smtClean="0"/>
              <a:t>Leaf’</a:t>
            </a:r>
            <a:r>
              <a:rPr lang="ru-RU" sz="1200" b="1" dirty="0" smtClean="0"/>
              <a:t>ы</a:t>
            </a:r>
          </a:p>
          <a:p>
            <a:endParaRPr lang="ru-RU" sz="1200" dirty="0"/>
          </a:p>
        </p:txBody>
      </p:sp>
      <p:sp>
        <p:nvSpPr>
          <p:cNvPr id="8" name="Google Shape;172;p38">
            <a:extLst>
              <a:ext uri="{FF2B5EF4-FFF2-40B4-BE49-F238E27FC236}">
                <a16:creationId xmlns:a16="http://schemas.microsoft.com/office/drawing/2014/main" id="{4558C006-18D9-4011-911C-2473CC233C07}"/>
              </a:ext>
            </a:extLst>
          </p:cNvPr>
          <p:cNvSpPr/>
          <p:nvPr/>
        </p:nvSpPr>
        <p:spPr>
          <a:xfrm>
            <a:off x="0" y="4921625"/>
            <a:ext cx="2918012" cy="2218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 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1759962"/>
            <a:ext cx="26914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 smtClean="0"/>
              <a:t>Команда </a:t>
            </a:r>
            <a:endParaRPr lang="en-US" sz="1200" b="1" dirty="0" smtClean="0"/>
          </a:p>
          <a:p>
            <a:r>
              <a:rPr lang="en-US" sz="1200" dirty="0" err="1"/>
              <a:t>s</a:t>
            </a:r>
            <a:r>
              <a:rPr lang="en-US" sz="1200" dirty="0" err="1" smtClean="0"/>
              <a:t>h</a:t>
            </a:r>
            <a:r>
              <a:rPr lang="en-US" sz="1200" dirty="0" smtClean="0"/>
              <a:t> </a:t>
            </a:r>
            <a:r>
              <a:rPr lang="en-US" sz="1200" dirty="0" err="1" smtClean="0"/>
              <a:t>vxlan</a:t>
            </a:r>
            <a:r>
              <a:rPr lang="en-US" sz="1200" dirty="0" smtClean="0"/>
              <a:t> address-table</a:t>
            </a:r>
            <a:endParaRPr lang="ru-RU" sz="1200" dirty="0" smtClean="0"/>
          </a:p>
          <a:p>
            <a:endParaRPr lang="en-US" sz="1200" dirty="0" smtClean="0"/>
          </a:p>
          <a:p>
            <a:r>
              <a:rPr lang="ru-RU" sz="1200" dirty="0" smtClean="0"/>
              <a:t>Покажет адреса другого </a:t>
            </a:r>
            <a:r>
              <a:rPr lang="en-US" sz="1200" dirty="0" smtClean="0"/>
              <a:t>POD’</a:t>
            </a:r>
            <a:r>
              <a:rPr lang="ru-RU" sz="1200" dirty="0" smtClean="0"/>
              <a:t>а</a:t>
            </a:r>
          </a:p>
          <a:p>
            <a:r>
              <a:rPr lang="ru-RU" sz="1200" dirty="0" smtClean="0"/>
              <a:t>Через </a:t>
            </a:r>
            <a:r>
              <a:rPr lang="en-US" sz="1200" dirty="0" smtClean="0"/>
              <a:t>VTEP </a:t>
            </a:r>
            <a:r>
              <a:rPr lang="ru-RU" sz="1200" dirty="0" smtClean="0"/>
              <a:t>другого </a:t>
            </a:r>
            <a:r>
              <a:rPr lang="en-US" sz="1200" dirty="0" smtClean="0"/>
              <a:t>POD’</a:t>
            </a:r>
            <a:r>
              <a:rPr lang="ru-RU" sz="1200" dirty="0" smtClean="0"/>
              <a:t>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-1" y="4624803"/>
            <a:ext cx="84431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/>
              <a:t>Нюанс</a:t>
            </a:r>
            <a:r>
              <a:rPr lang="en-US" sz="1200" dirty="0" smtClean="0"/>
              <a:t>: </a:t>
            </a:r>
            <a:r>
              <a:rPr lang="ru-RU" sz="1200" dirty="0" smtClean="0"/>
              <a:t>таблица не «наполнится», пока не поступит клиентский трафик, по этому с начала, </a:t>
            </a:r>
            <a:r>
              <a:rPr lang="ru-RU" sz="1200" dirty="0" err="1" smtClean="0"/>
              <a:t>пинга</a:t>
            </a:r>
            <a:r>
              <a:rPr lang="ru-RU" sz="1200" dirty="0" smtClean="0"/>
              <a:t> нет</a:t>
            </a:r>
          </a:p>
        </p:txBody>
      </p:sp>
    </p:spTree>
    <p:extLst>
      <p:ext uri="{BB962C8B-B14F-4D97-AF65-F5344CB8AC3E}">
        <p14:creationId xmlns:p14="http://schemas.microsoft.com/office/powerpoint/2010/main" val="3489434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442" y="401326"/>
            <a:ext cx="6272206" cy="4371012"/>
          </a:xfrm>
          <a:prstGeom prst="rect">
            <a:avLst/>
          </a:prstGeom>
        </p:spPr>
      </p:pic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0" y="-105197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</a:t>
            </a:r>
            <a:r>
              <a:rPr lang="ru" sz="3000" dirty="0" smtClean="0"/>
              <a:t>получилось</a:t>
            </a:r>
            <a:r>
              <a:rPr lang="en-US" sz="3000" dirty="0" smtClean="0"/>
              <a:t>?</a:t>
            </a:r>
            <a:endParaRPr sz="3000" dirty="0"/>
          </a:p>
        </p:txBody>
      </p:sp>
      <p:sp>
        <p:nvSpPr>
          <p:cNvPr id="4" name="Google Shape;172;p38">
            <a:extLst>
              <a:ext uri="{FF2B5EF4-FFF2-40B4-BE49-F238E27FC236}">
                <a16:creationId xmlns:a16="http://schemas.microsoft.com/office/drawing/2014/main" id="{4558C006-18D9-4011-911C-2473CC233C07}"/>
              </a:ext>
            </a:extLst>
          </p:cNvPr>
          <p:cNvSpPr/>
          <p:nvPr/>
        </p:nvSpPr>
        <p:spPr>
          <a:xfrm>
            <a:off x="0" y="4921625"/>
            <a:ext cx="2918012" cy="2218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 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50613"/>
            <a:ext cx="269144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b="1" dirty="0" smtClean="0"/>
              <a:t>Выполнили основную задачу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26570" y="1076087"/>
            <a:ext cx="26914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/>
              <a:t>HOST’</a:t>
            </a:r>
            <a:r>
              <a:rPr lang="ru-RU" sz="1200" b="1" dirty="0" smtClean="0"/>
              <a:t>ы </a:t>
            </a:r>
            <a:r>
              <a:rPr lang="ru-RU" sz="1200" b="1" dirty="0" err="1" smtClean="0"/>
              <a:t>пингуют</a:t>
            </a:r>
            <a:r>
              <a:rPr lang="ru-RU" sz="1200" b="1" dirty="0" smtClean="0"/>
              <a:t> </a:t>
            </a:r>
            <a:r>
              <a:rPr lang="ru-RU" sz="1200" b="1" dirty="0" err="1" smtClean="0"/>
              <a:t>друг-друга</a:t>
            </a:r>
            <a:endParaRPr lang="ru-RU" sz="1200" b="1" dirty="0" smtClean="0"/>
          </a:p>
          <a:p>
            <a:endParaRPr lang="ru-RU" sz="1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1646513"/>
            <a:ext cx="26914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ru-RU" sz="800" dirty="0" smtClean="0"/>
              <a:t>Работа кластера </a:t>
            </a:r>
            <a:r>
              <a:rPr lang="ru-RU" sz="800" dirty="0"/>
              <a:t>между ЦОД «A» и «B</a:t>
            </a:r>
            <a:r>
              <a:rPr lang="ru-RU" sz="800" dirty="0" smtClean="0"/>
              <a:t>»</a:t>
            </a:r>
          </a:p>
          <a:p>
            <a:pPr marL="228600" indent="-228600">
              <a:buAutoNum type="arabicPeriod"/>
            </a:pPr>
            <a:r>
              <a:rPr lang="ru-RU" sz="800" dirty="0" smtClean="0"/>
              <a:t>Сетевая отказоустойчивость</a:t>
            </a:r>
          </a:p>
          <a:p>
            <a:pPr marL="228600" indent="-228600">
              <a:buAutoNum type="arabicPeriod"/>
            </a:pPr>
            <a:r>
              <a:rPr lang="ru-RU" sz="800" dirty="0" smtClean="0"/>
              <a:t>Одинаковый </a:t>
            </a:r>
            <a:r>
              <a:rPr lang="ru-RU" sz="800" dirty="0" err="1" smtClean="0"/>
              <a:t>vlan+gateway</a:t>
            </a:r>
            <a:endParaRPr lang="ru-RU" sz="800" dirty="0"/>
          </a:p>
          <a:p>
            <a:pPr marL="228600" indent="-228600">
              <a:buAutoNum type="arabicPeriod"/>
            </a:pPr>
            <a:r>
              <a:rPr lang="ru-RU" sz="800" dirty="0" smtClean="0"/>
              <a:t>Инф-</a:t>
            </a:r>
            <a:r>
              <a:rPr lang="ru-RU" sz="800" dirty="0" err="1" smtClean="0"/>
              <a:t>ра</a:t>
            </a:r>
            <a:r>
              <a:rPr lang="ru-RU" sz="800" dirty="0" smtClean="0"/>
              <a:t> на </a:t>
            </a:r>
            <a:r>
              <a:rPr lang="ru-RU" sz="800" dirty="0" err="1" smtClean="0"/>
              <a:t>Arista</a:t>
            </a:r>
            <a:endParaRPr lang="ru-RU" sz="800" dirty="0" smtClean="0"/>
          </a:p>
          <a:p>
            <a:pPr marL="228600" indent="-228600">
              <a:buAutoNum type="arabicPeriod"/>
            </a:pPr>
            <a:r>
              <a:rPr lang="ru-RU" sz="800" dirty="0" smtClean="0"/>
              <a:t>Тестовая </a:t>
            </a:r>
            <a:r>
              <a:rPr lang="ru-RU" sz="800" dirty="0"/>
              <a:t>среда «EVE-NG» лимит в ~30GB </a:t>
            </a:r>
            <a:r>
              <a:rPr lang="ru-RU" sz="800" dirty="0" err="1"/>
              <a:t>Memory</a:t>
            </a:r>
            <a:r>
              <a:rPr lang="ru-RU" sz="800" dirty="0"/>
              <a:t> (до ~13vm)</a:t>
            </a:r>
            <a:endParaRPr lang="ru-RU" sz="800" dirty="0" smtClean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1468705"/>
            <a:ext cx="26914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 smtClean="0"/>
              <a:t>А какие были задачи</a:t>
            </a:r>
            <a:r>
              <a:rPr lang="en-US" sz="1200" b="1" dirty="0" smtClean="0"/>
              <a:t>?</a:t>
            </a:r>
            <a:endParaRPr lang="ru-RU" sz="1200" b="1" dirty="0" smtClean="0"/>
          </a:p>
          <a:p>
            <a:endParaRPr lang="ru-RU" sz="1200" dirty="0"/>
          </a:p>
        </p:txBody>
      </p:sp>
      <p:pic>
        <p:nvPicPr>
          <p:cNvPr id="2050" name="Picture 2" descr="Смайл конфетти (44 фото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920" y="1098884"/>
            <a:ext cx="194522" cy="20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Смайл конфетти (44 фото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56" y="1112613"/>
            <a:ext cx="194522" cy="20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0" y="2804605"/>
            <a:ext cx="26914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ru-RU" sz="800" dirty="0" smtClean="0"/>
              <a:t>Связь имеется – хосты </a:t>
            </a:r>
            <a:r>
              <a:rPr lang="ru-RU" sz="800" dirty="0" err="1" smtClean="0"/>
              <a:t>пингуются</a:t>
            </a:r>
            <a:endParaRPr lang="ru-RU" sz="800" dirty="0" smtClean="0"/>
          </a:p>
          <a:p>
            <a:pPr marL="228600" indent="-228600">
              <a:buAutoNum type="arabicPeriod"/>
            </a:pPr>
            <a:r>
              <a:rPr lang="en-US" sz="800" dirty="0" smtClean="0"/>
              <a:t>Spine</a:t>
            </a:r>
            <a:r>
              <a:rPr lang="ru-RU" sz="800" dirty="0" smtClean="0"/>
              <a:t> видят соседей в</a:t>
            </a:r>
            <a:r>
              <a:rPr lang="en-US" sz="800" dirty="0" smtClean="0"/>
              <a:t> </a:t>
            </a:r>
            <a:r>
              <a:rPr lang="ru-RU" sz="800" dirty="0" err="1" smtClean="0"/>
              <a:t>т.ч</a:t>
            </a:r>
            <a:r>
              <a:rPr lang="ru-RU" sz="800" dirty="0" smtClean="0"/>
              <a:t>. в избыточных </a:t>
            </a:r>
            <a:r>
              <a:rPr lang="ru-RU" sz="800" dirty="0" err="1" smtClean="0"/>
              <a:t>линках</a:t>
            </a:r>
            <a:endParaRPr lang="ru-RU" sz="800" dirty="0" smtClean="0"/>
          </a:p>
          <a:p>
            <a:pPr marL="228600" indent="-228600">
              <a:buAutoNum type="arabicPeriod"/>
            </a:pPr>
            <a:r>
              <a:rPr lang="ru-RU" sz="800" dirty="0" smtClean="0"/>
              <a:t>У обоих </a:t>
            </a:r>
            <a:r>
              <a:rPr lang="en-US" sz="800" dirty="0" smtClean="0"/>
              <a:t>Host vlan10 </a:t>
            </a:r>
            <a:r>
              <a:rPr lang="ru-RU" sz="800" dirty="0" smtClean="0"/>
              <a:t>и </a:t>
            </a:r>
            <a:r>
              <a:rPr lang="en-US" sz="800" dirty="0" smtClean="0"/>
              <a:t>GW 192.168.10.254</a:t>
            </a:r>
            <a:endParaRPr lang="ru-RU" sz="800" dirty="0"/>
          </a:p>
          <a:p>
            <a:pPr marL="228600" indent="-228600">
              <a:buAutoNum type="arabicPeriod"/>
            </a:pPr>
            <a:r>
              <a:rPr lang="ru-RU" sz="800" dirty="0" smtClean="0"/>
              <a:t>Всё на </a:t>
            </a:r>
            <a:r>
              <a:rPr lang="ru-RU" sz="800" dirty="0" err="1" smtClean="0"/>
              <a:t>Arista</a:t>
            </a:r>
            <a:r>
              <a:rPr lang="ru-RU" sz="800" dirty="0" smtClean="0"/>
              <a:t>, а </a:t>
            </a:r>
            <a:r>
              <a:rPr lang="en-US" sz="800" dirty="0" smtClean="0"/>
              <a:t>Host’s</a:t>
            </a:r>
            <a:r>
              <a:rPr lang="ru-RU" sz="800" dirty="0" smtClean="0"/>
              <a:t> с другой картинкой</a:t>
            </a:r>
          </a:p>
          <a:p>
            <a:pPr marL="228600" indent="-228600">
              <a:buAutoNum type="arabicPeriod"/>
            </a:pPr>
            <a:r>
              <a:rPr lang="ru-RU" sz="800" dirty="0" smtClean="0"/>
              <a:t>Среда в </a:t>
            </a:r>
            <a:r>
              <a:rPr lang="ru-RU" sz="800" dirty="0"/>
              <a:t>«EVE-NG» </a:t>
            </a:r>
            <a:r>
              <a:rPr lang="ru-RU" sz="800" dirty="0" smtClean="0"/>
              <a:t>чтоб её…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0" y="2626797"/>
            <a:ext cx="26914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 smtClean="0"/>
              <a:t>Результаты:</a:t>
            </a:r>
          </a:p>
          <a:p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760370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0" y="-105197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 smtClean="0"/>
              <a:t>А что же НЕ получилось</a:t>
            </a:r>
            <a:r>
              <a:rPr lang="en-US" sz="3000" dirty="0" smtClean="0"/>
              <a:t>?</a:t>
            </a:r>
            <a:endParaRPr sz="3000" dirty="0"/>
          </a:p>
        </p:txBody>
      </p:sp>
      <p:sp>
        <p:nvSpPr>
          <p:cNvPr id="4" name="Google Shape;172;p38">
            <a:extLst>
              <a:ext uri="{FF2B5EF4-FFF2-40B4-BE49-F238E27FC236}">
                <a16:creationId xmlns:a16="http://schemas.microsoft.com/office/drawing/2014/main" id="{4558C006-18D9-4011-911C-2473CC233C07}"/>
              </a:ext>
            </a:extLst>
          </p:cNvPr>
          <p:cNvSpPr/>
          <p:nvPr/>
        </p:nvSpPr>
        <p:spPr>
          <a:xfrm>
            <a:off x="0" y="4921625"/>
            <a:ext cx="2918012" cy="2218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 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50613"/>
            <a:ext cx="254964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b="1" dirty="0" smtClean="0"/>
              <a:t>Сделать красиво «всё на </a:t>
            </a:r>
            <a:r>
              <a:rPr lang="en-US" sz="1100" b="1" dirty="0" smtClean="0"/>
              <a:t>BGP</a:t>
            </a:r>
            <a:r>
              <a:rPr lang="ru-RU" sz="1100" b="1" dirty="0" smtClean="0"/>
              <a:t>»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50" y="3409352"/>
            <a:ext cx="1730573" cy="1026468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-1" y="944813"/>
            <a:ext cx="800266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dk1"/>
                </a:solidFill>
                <a:latin typeface="Roboto Medium"/>
                <a:sym typeface="Roboto Medium"/>
              </a:rPr>
              <a:t>Проблема не в технологиях, а в среде</a:t>
            </a:r>
          </a:p>
          <a:p>
            <a:endParaRPr lang="ru-RU" dirty="0">
              <a:solidFill>
                <a:schemeClr val="dk1"/>
              </a:solidFill>
              <a:latin typeface="Roboto Medium"/>
              <a:sym typeface="Roboto Medium"/>
            </a:endParaRPr>
          </a:p>
          <a:p>
            <a:r>
              <a:rPr lang="ru-RU" dirty="0" smtClean="0">
                <a:solidFill>
                  <a:schemeClr val="dk1"/>
                </a:solidFill>
                <a:latin typeface="Roboto Medium"/>
                <a:sym typeface="Roboto Medium"/>
              </a:rPr>
              <a:t>При конфигурации </a:t>
            </a:r>
            <a:r>
              <a:rPr lang="en-US" dirty="0" err="1" smtClean="0">
                <a:solidFill>
                  <a:schemeClr val="dk1"/>
                </a:solidFill>
                <a:latin typeface="Roboto Medium"/>
                <a:sym typeface="Roboto Medium"/>
              </a:rPr>
              <a:t>bgp</a:t>
            </a:r>
            <a:r>
              <a:rPr lang="en-US" dirty="0" smtClean="0">
                <a:solidFill>
                  <a:schemeClr val="dk1"/>
                </a:solidFill>
                <a:latin typeface="Roboto Medium"/>
                <a:sym typeface="Roboto Medium"/>
              </a:rPr>
              <a:t> </a:t>
            </a:r>
            <a:r>
              <a:rPr lang="ru-RU" dirty="0" smtClean="0">
                <a:solidFill>
                  <a:schemeClr val="dk1"/>
                </a:solidFill>
                <a:latin typeface="Roboto Medium"/>
                <a:sym typeface="Roboto Medium"/>
              </a:rPr>
              <a:t>в качестве </a:t>
            </a:r>
            <a:r>
              <a:rPr lang="en-US" dirty="0" smtClean="0">
                <a:solidFill>
                  <a:schemeClr val="dk1"/>
                </a:solidFill>
                <a:latin typeface="Roboto Medium"/>
                <a:sym typeface="Roboto Medium"/>
              </a:rPr>
              <a:t>underlay</a:t>
            </a:r>
            <a:r>
              <a:rPr lang="ru-RU" dirty="0" smtClean="0">
                <a:solidFill>
                  <a:schemeClr val="dk1"/>
                </a:solidFill>
                <a:latin typeface="Roboto Medium"/>
                <a:sym typeface="Roboto Medium"/>
              </a:rPr>
              <a:t>, регулярно</a:t>
            </a:r>
            <a:r>
              <a:rPr lang="en-US" dirty="0" smtClean="0">
                <a:solidFill>
                  <a:schemeClr val="dk1"/>
                </a:solidFill>
                <a:latin typeface="Roboto Medium"/>
                <a:sym typeface="Roboto Medium"/>
              </a:rPr>
              <a:t>:</a:t>
            </a:r>
            <a:endParaRPr lang="en-US" dirty="0">
              <a:solidFill>
                <a:schemeClr val="dk1"/>
              </a:solidFill>
              <a:latin typeface="Roboto Medium"/>
              <a:sym typeface="Roboto Mediu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chemeClr val="dk1"/>
                </a:solidFill>
                <a:latin typeface="Roboto Medium"/>
                <a:sym typeface="Roboto Medium"/>
              </a:rPr>
              <a:t>Встречал странные артефакты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chemeClr val="dk1"/>
                </a:solidFill>
                <a:latin typeface="Roboto Medium"/>
                <a:sym typeface="Roboto Medium"/>
              </a:rPr>
              <a:t>Тратил время и нервы на отладку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chemeClr val="dk1"/>
                </a:solidFill>
                <a:latin typeface="Roboto Medium"/>
                <a:sym typeface="Roboto Medium"/>
              </a:rPr>
              <a:t>Отвратительная отзывчивость консоли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-1" y="2455245"/>
            <a:ext cx="6615914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dk1"/>
                </a:solidFill>
                <a:latin typeface="Roboto Medium"/>
                <a:sym typeface="Roboto Medium"/>
              </a:rPr>
              <a:t>За тем встретил артефакт</a:t>
            </a:r>
            <a:br>
              <a:rPr lang="ru-RU" dirty="0" smtClean="0">
                <a:solidFill>
                  <a:schemeClr val="dk1"/>
                </a:solidFill>
                <a:latin typeface="Roboto Medium"/>
                <a:sym typeface="Roboto Medium"/>
              </a:rPr>
            </a:br>
            <a:r>
              <a:rPr lang="en-US" dirty="0" smtClean="0">
                <a:solidFill>
                  <a:schemeClr val="dk1"/>
                </a:solidFill>
                <a:latin typeface="Roboto Medium"/>
                <a:sym typeface="Roboto Medium"/>
              </a:rPr>
              <a:t>% </a:t>
            </a:r>
            <a:r>
              <a:rPr lang="en-US" dirty="0" err="1" smtClean="0">
                <a:solidFill>
                  <a:schemeClr val="dk1"/>
                </a:solidFill>
                <a:latin typeface="Roboto Medium"/>
                <a:sym typeface="Roboto Medium"/>
              </a:rPr>
              <a:t>Cli</a:t>
            </a:r>
            <a:r>
              <a:rPr lang="en-US" dirty="0" smtClean="0">
                <a:solidFill>
                  <a:schemeClr val="dk1"/>
                </a:solidFill>
                <a:latin typeface="Roboto Medium"/>
                <a:sym typeface="Roboto Medium"/>
              </a:rPr>
              <a:t> connection error</a:t>
            </a:r>
            <a:br>
              <a:rPr lang="en-US" dirty="0" smtClean="0">
                <a:solidFill>
                  <a:schemeClr val="dk1"/>
                </a:solidFill>
                <a:latin typeface="Roboto Medium"/>
                <a:sym typeface="Roboto Medium"/>
              </a:rPr>
            </a:br>
            <a:r>
              <a:rPr lang="ru-RU" dirty="0" smtClean="0">
                <a:solidFill>
                  <a:schemeClr val="dk1"/>
                </a:solidFill>
                <a:latin typeface="Roboto Medium"/>
                <a:sym typeface="Roboto Medium"/>
              </a:rPr>
              <a:t>а позже и</a:t>
            </a:r>
            <a:br>
              <a:rPr lang="ru-RU" dirty="0" smtClean="0">
                <a:solidFill>
                  <a:schemeClr val="dk1"/>
                </a:solidFill>
                <a:latin typeface="Roboto Medium"/>
                <a:sym typeface="Roboto Medium"/>
              </a:rPr>
            </a:br>
            <a:r>
              <a:rPr lang="ru-RU" dirty="0" smtClean="0">
                <a:solidFill>
                  <a:schemeClr val="dk1"/>
                </a:solidFill>
                <a:latin typeface="Roboto Medium"/>
                <a:sym typeface="Roboto Medium"/>
              </a:rPr>
              <a:t>% </a:t>
            </a:r>
            <a:r>
              <a:rPr lang="en-US" dirty="0" smtClean="0">
                <a:solidFill>
                  <a:schemeClr val="dk1"/>
                </a:solidFill>
                <a:latin typeface="Roboto Medium"/>
                <a:sym typeface="Roboto Medium"/>
              </a:rPr>
              <a:t>Command unsupported this hardware platform</a:t>
            </a:r>
            <a:r>
              <a:rPr lang="ru-RU" dirty="0" smtClean="0">
                <a:solidFill>
                  <a:schemeClr val="dk1"/>
                </a:solidFill>
                <a:latin typeface="Roboto Medium"/>
                <a:sym typeface="Roboto Medium"/>
              </a:rPr>
              <a:t> (или как-то так, не </a:t>
            </a:r>
            <a:r>
              <a:rPr lang="ru-RU" dirty="0" err="1" smtClean="0">
                <a:solidFill>
                  <a:schemeClr val="dk1"/>
                </a:solidFill>
                <a:latin typeface="Roboto Medium"/>
                <a:sym typeface="Roboto Medium"/>
              </a:rPr>
              <a:t>заскринил</a:t>
            </a:r>
            <a:r>
              <a:rPr lang="ru-RU" dirty="0" smtClean="0">
                <a:solidFill>
                  <a:schemeClr val="dk1"/>
                </a:solidFill>
                <a:latin typeface="Roboto Medium"/>
                <a:sym typeface="Roboto Medium"/>
              </a:rPr>
              <a:t>)</a:t>
            </a:r>
            <a:endParaRPr lang="ru-RU" dirty="0">
              <a:solidFill>
                <a:schemeClr val="dk1"/>
              </a:solidFill>
              <a:latin typeface="Roboto Medium"/>
              <a:sym typeface="Roboto Medium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0" y="4547917"/>
            <a:ext cx="492574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b="1" dirty="0" smtClean="0"/>
              <a:t>Я понял что </a:t>
            </a:r>
            <a:r>
              <a:rPr lang="ru-RU" sz="1100" b="1" dirty="0" err="1" smtClean="0"/>
              <a:t>лабе</a:t>
            </a:r>
            <a:r>
              <a:rPr lang="ru-RU" sz="1100" b="1" dirty="0" smtClean="0"/>
              <a:t>, не хватает ресурсов для поставленной задачи, </a:t>
            </a:r>
          </a:p>
          <a:p>
            <a:r>
              <a:rPr lang="ru-RU" sz="1100" b="1" dirty="0" smtClean="0"/>
              <a:t>по этому выбрал </a:t>
            </a:r>
            <a:r>
              <a:rPr lang="en-US" sz="1100" b="1" dirty="0" smtClean="0"/>
              <a:t>ISIS </a:t>
            </a:r>
            <a:r>
              <a:rPr lang="ru-RU" sz="1100" b="1" dirty="0" smtClean="0"/>
              <a:t>в качестве </a:t>
            </a:r>
            <a:r>
              <a:rPr lang="en-US" sz="1100" b="1" dirty="0" smtClean="0"/>
              <a:t>underlay</a:t>
            </a:r>
            <a:endParaRPr lang="ru-RU" sz="1100" b="1" dirty="0" smtClean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3F26EB-C5D7-475F-9FB6-502703D92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146" y="3450593"/>
            <a:ext cx="2914026" cy="158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15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dirty="0"/>
              <a:t>Выводы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1242670341"/>
              </p:ext>
            </p:extLst>
          </p:nvPr>
        </p:nvGraphicFramePr>
        <p:xfrm>
          <a:off x="-259755" y="1855700"/>
          <a:ext cx="6815558" cy="3782067"/>
        </p:xfrm>
        <a:graphic>
          <a:graphicData uri="http://schemas.openxmlformats.org/drawingml/2006/table">
            <a:tbl>
              <a:tblPr>
                <a:noFill/>
                <a:tableStyleId>{CFE11A40-47B0-4494-8E7D-2D000D0C37DC}</a:tableStyleId>
              </a:tblPr>
              <a:tblGrid>
                <a:gridCol w="460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4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20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Получилась единая </a:t>
                      </a:r>
                      <a:r>
                        <a:rPr lang="en-US" sz="1200" dirty="0" err="1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evpn</a:t>
                      </a:r>
                      <a:r>
                        <a:rPr lang="en-US" sz="120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фабрика</a:t>
                      </a: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между 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POD</a:t>
                      </a: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и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POD</a:t>
                      </a: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lang="ru-RU" sz="1200" baseline="0" dirty="0" smtClean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VXLAN</a:t>
                      </a: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растянул нам 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L2 (VLAN</a:t>
                      </a: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10) поверх 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L3-</a:t>
                      </a:r>
                      <a:r>
                        <a:rPr lang="ru-RU" sz="1200" baseline="0" dirty="0" err="1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андерлея</a:t>
                      </a:r>
                      <a:endParaRPr lang="ru-RU" sz="1200" baseline="0" dirty="0" smtClean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 </a:t>
                      </a:r>
                      <a:r>
                        <a:rPr lang="ru-RU" sz="1200" baseline="0" dirty="0" err="1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Андерлей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построен на 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ISIS</a:t>
                      </a: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(физическая маршрутизация)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 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BGP EVPN </a:t>
                      </a: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– 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Control plane </a:t>
                      </a: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MAC/IP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 </a:t>
                      </a:r>
                      <a:r>
                        <a:rPr lang="en-US" sz="1200" baseline="0" dirty="0" err="1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Anycast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-gateway </a:t>
                      </a: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– отказоустойчивый шлюз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через </a:t>
                      </a:r>
                      <a:r>
                        <a:rPr lang="en-US" sz="1200" baseline="0" dirty="0" err="1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PortChannel</a:t>
                      </a:r>
                      <a:endParaRPr lang="ru-RU" sz="1200" baseline="0" dirty="0" smtClean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 MLAG </a:t>
                      </a: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 каждого 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</a:t>
                      </a: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–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отказоустойчивый </a:t>
                      </a:r>
                      <a:r>
                        <a:rPr lang="en-US" sz="1200" baseline="0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Access</a:t>
                      </a:r>
                      <a:endParaRPr lang="ru-RU" sz="1200" baseline="0" dirty="0" smtClean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baseline="0" dirty="0" smtClean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 smtClean="0">
                          <a:solidFill>
                            <a:srgbClr val="00B0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</a:t>
                      </a:r>
                      <a:r>
                        <a:rPr lang="ru-RU" sz="1400" b="1" baseline="0" dirty="0" smtClean="0">
                          <a:solidFill>
                            <a:srgbClr val="00B0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руководства это означает:</a:t>
                      </a:r>
                      <a:endParaRPr lang="ru-RU" sz="1400" b="1" dirty="0" smtClean="0">
                        <a:solidFill>
                          <a:srgbClr val="00B05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sng" dirty="0" smtClean="0">
                          <a:solidFill>
                            <a:srgbClr val="00B0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Миграция приложения без простоя </a:t>
                      </a:r>
                      <a:r>
                        <a:rPr lang="ru-RU" sz="1400" u="sng" dirty="0" smtClean="0">
                          <a:solidFill>
                            <a:srgbClr val="00B0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бизнеса</a:t>
                      </a:r>
                      <a:r>
                        <a:rPr lang="ru-RU" sz="1400" u="sng" dirty="0" smtClean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lang="ru-RU" sz="1400" u="sng" dirty="0" smtClean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«Миграция» </a:t>
                      </a:r>
                      <a:r>
                        <a:rPr lang="ru-RU" sz="1100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теперь не проект на несколько дней, а просто задача на </a:t>
                      </a:r>
                      <a:r>
                        <a:rPr lang="en-US" sz="1100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~</a:t>
                      </a:r>
                      <a:r>
                        <a:rPr lang="ru-RU" sz="1100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r>
                        <a:rPr lang="ru-RU" sz="1100" baseline="0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100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секунд.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500550" y="1093147"/>
            <a:ext cx="75221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Самый главный: </a:t>
            </a:r>
            <a:r>
              <a:rPr lang="ru-RU" sz="1100" b="1" dirty="0" smtClean="0"/>
              <a:t/>
            </a:r>
            <a:br>
              <a:rPr lang="ru-RU" sz="1100" b="1" dirty="0" smtClean="0"/>
            </a:br>
            <a:r>
              <a:rPr lang="ru-RU" dirty="0" smtClean="0">
                <a:solidFill>
                  <a:srgbClr val="7030A0"/>
                </a:solidFill>
              </a:rPr>
              <a:t>Доказали заказчику, что задача реализуема при существующих ограничениях</a:t>
            </a:r>
            <a:r>
              <a:rPr lang="ru-RU" b="1" dirty="0" smtClean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00550" y="1701812"/>
            <a:ext cx="35221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Не самые главные </a:t>
            </a:r>
            <a:r>
              <a:rPr lang="en-US" b="1" dirty="0" smtClean="0"/>
              <a:t>(</a:t>
            </a:r>
            <a:r>
              <a:rPr lang="ru-RU" b="1" dirty="0" smtClean="0"/>
              <a:t>чуть детальнее</a:t>
            </a:r>
            <a:r>
              <a:rPr lang="en-US" b="1" dirty="0" smtClean="0"/>
              <a:t>)</a:t>
            </a:r>
            <a:r>
              <a:rPr lang="ru-RU" b="1" dirty="0" smtClean="0"/>
              <a:t>: </a:t>
            </a:r>
            <a:endParaRPr lang="ru-RU" dirty="0"/>
          </a:p>
        </p:txBody>
      </p:sp>
      <p:sp>
        <p:nvSpPr>
          <p:cNvPr id="9" name="Google Shape;172;p38">
            <a:extLst>
              <a:ext uri="{FF2B5EF4-FFF2-40B4-BE49-F238E27FC236}">
                <a16:creationId xmlns:a16="http://schemas.microsoft.com/office/drawing/2014/main" id="{4558C006-18D9-4011-911C-2473CC233C07}"/>
              </a:ext>
            </a:extLst>
          </p:cNvPr>
          <p:cNvSpPr/>
          <p:nvPr/>
        </p:nvSpPr>
        <p:spPr>
          <a:xfrm>
            <a:off x="0" y="4921625"/>
            <a:ext cx="2918012" cy="2218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 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400" dirty="0" smtClean="0"/>
              <a:t>Планы на будущее: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00550" y="1194905"/>
            <a:ext cx="7522142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При построении реальной схемы нужно будет: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b="1" dirty="0" smtClean="0"/>
              <a:t>Автоматизация (</a:t>
            </a:r>
            <a:r>
              <a:rPr lang="en-US" b="1" dirty="0" err="1" smtClean="0"/>
              <a:t>Ansible</a:t>
            </a:r>
            <a:r>
              <a:rPr lang="ru-RU" b="1" dirty="0" smtClean="0"/>
              <a:t> допустим)</a:t>
            </a:r>
            <a:endParaRPr lang="en-US" b="1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b="1" dirty="0" smtClean="0"/>
              <a:t>Мониторинг </a:t>
            </a:r>
            <a:r>
              <a:rPr lang="en-US" b="1" dirty="0" smtClean="0"/>
              <a:t>EVPN</a:t>
            </a:r>
            <a:r>
              <a:rPr lang="ru-RU" b="1" dirty="0" smtClean="0"/>
              <a:t> (</a:t>
            </a:r>
            <a:r>
              <a:rPr lang="en-US" b="1" dirty="0" err="1" smtClean="0"/>
              <a:t>Zabbix</a:t>
            </a:r>
            <a:r>
              <a:rPr lang="en-US" b="1" dirty="0" smtClean="0"/>
              <a:t>, </a:t>
            </a:r>
            <a:r>
              <a:rPr lang="en-US" b="1" dirty="0" err="1" smtClean="0"/>
              <a:t>LibreNMS</a:t>
            </a:r>
            <a:r>
              <a:rPr lang="ru-RU" b="1" dirty="0" smtClean="0"/>
              <a:t>)</a:t>
            </a:r>
            <a:endParaRPr lang="en-US" b="1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b="1" dirty="0" smtClean="0"/>
              <a:t>Обвязка конфигураций требованиями ИБ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b="1" dirty="0" err="1" smtClean="0"/>
              <a:t>Андерлей</a:t>
            </a:r>
            <a:r>
              <a:rPr lang="ru-RU" b="1" dirty="0" smtClean="0"/>
              <a:t> на </a:t>
            </a:r>
            <a:r>
              <a:rPr lang="en-US" b="1" dirty="0" smtClean="0"/>
              <a:t>BGP (+ </a:t>
            </a:r>
            <a:r>
              <a:rPr lang="ru-RU" b="1" dirty="0" smtClean="0"/>
              <a:t>подкрутить </a:t>
            </a:r>
            <a:r>
              <a:rPr lang="ru-RU" b="1" dirty="0" err="1" smtClean="0"/>
              <a:t>тайминги</a:t>
            </a:r>
            <a:r>
              <a:rPr lang="ru-RU" b="1" dirty="0" smtClean="0"/>
              <a:t> для быстрой сходимости</a:t>
            </a:r>
            <a:r>
              <a:rPr lang="en-US" b="1" dirty="0" smtClean="0"/>
              <a:t>)</a:t>
            </a:r>
            <a:r>
              <a:rPr lang="ru-RU" sz="1100" b="1" dirty="0" smtClean="0"/>
              <a:t/>
            </a:r>
            <a:br>
              <a:rPr lang="ru-RU" sz="1100" b="1" dirty="0" smtClean="0"/>
            </a:br>
            <a:endParaRPr lang="ru-RU" b="1" dirty="0" smtClean="0">
              <a:solidFill>
                <a:srgbClr val="7030A0"/>
              </a:solidFill>
            </a:endParaRPr>
          </a:p>
        </p:txBody>
      </p:sp>
      <p:sp>
        <p:nvSpPr>
          <p:cNvPr id="9" name="Google Shape;172;p38">
            <a:extLst>
              <a:ext uri="{FF2B5EF4-FFF2-40B4-BE49-F238E27FC236}">
                <a16:creationId xmlns:a16="http://schemas.microsoft.com/office/drawing/2014/main" id="{4558C006-18D9-4011-911C-2473CC233C07}"/>
              </a:ext>
            </a:extLst>
          </p:cNvPr>
          <p:cNvSpPr/>
          <p:nvPr/>
        </p:nvSpPr>
        <p:spPr>
          <a:xfrm>
            <a:off x="0" y="4921625"/>
            <a:ext cx="2918012" cy="2218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 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865198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" name="Google Shape;275;p49">
            <a:extLst>
              <a:ext uri="{FF2B5EF4-FFF2-40B4-BE49-F238E27FC236}">
                <a16:creationId xmlns:a16="http://schemas.microsoft.com/office/drawing/2014/main" id="{A811C600-A247-441C-A487-A70AC95358E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9862655">
            <a:off x="8487027" y="1506143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75;p49">
            <a:extLst>
              <a:ext uri="{FF2B5EF4-FFF2-40B4-BE49-F238E27FC236}">
                <a16:creationId xmlns:a16="http://schemas.microsoft.com/office/drawing/2014/main" id="{54F6DEB8-A7B2-478C-A574-A89BEE5F8E5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1800783">
            <a:off x="8062900" y="1489996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295;p49">
            <a:extLst>
              <a:ext uri="{FF2B5EF4-FFF2-40B4-BE49-F238E27FC236}">
                <a16:creationId xmlns:a16="http://schemas.microsoft.com/office/drawing/2014/main" id="{109C87B3-9810-42D2-87B1-D127A711F14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3437641">
            <a:off x="8204893" y="791363"/>
            <a:ext cx="552197" cy="55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21;p49">
            <a:extLst>
              <a:ext uri="{FF2B5EF4-FFF2-40B4-BE49-F238E27FC236}">
                <a16:creationId xmlns:a16="http://schemas.microsoft.com/office/drawing/2014/main" id="{DFD5333C-417B-44A0-A297-08A40B23350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31932" y="630376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264;p49">
            <a:extLst>
              <a:ext uri="{FF2B5EF4-FFF2-40B4-BE49-F238E27FC236}">
                <a16:creationId xmlns:a16="http://schemas.microsoft.com/office/drawing/2014/main" id="{A07A5323-18CF-4582-A2D9-B9370577C292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3995635">
            <a:off x="7919316" y="770231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4;p49">
            <a:extLst>
              <a:ext uri="{FF2B5EF4-FFF2-40B4-BE49-F238E27FC236}">
                <a16:creationId xmlns:a16="http://schemas.microsoft.com/office/drawing/2014/main" id="{573D65AC-AC5A-4317-BA03-CBF3714E9484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1156929">
            <a:off x="8512161" y="750184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64;p49">
            <a:extLst>
              <a:ext uri="{FF2B5EF4-FFF2-40B4-BE49-F238E27FC236}">
                <a16:creationId xmlns:a16="http://schemas.microsoft.com/office/drawing/2014/main" id="{48C738CF-EC29-4393-95CE-56F522F27C09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9602008">
            <a:off x="8101510" y="1199840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64;p49">
            <a:extLst>
              <a:ext uri="{FF2B5EF4-FFF2-40B4-BE49-F238E27FC236}">
                <a16:creationId xmlns:a16="http://schemas.microsoft.com/office/drawing/2014/main" id="{2D2FC421-F841-489B-98B9-44AD389598E6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7740348">
            <a:off x="8362259" y="1206060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93;p49">
            <a:extLst>
              <a:ext uri="{FF2B5EF4-FFF2-40B4-BE49-F238E27FC236}">
                <a16:creationId xmlns:a16="http://schemas.microsoft.com/office/drawing/2014/main" id="{94AED2F4-2281-472B-8D77-439B2960EB60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82014" y="346636"/>
            <a:ext cx="602188" cy="60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36;p44" title="marker-graduating-cap.png">
            <a:extLst>
              <a:ext uri="{FF2B5EF4-FFF2-40B4-BE49-F238E27FC236}">
                <a16:creationId xmlns:a16="http://schemas.microsoft.com/office/drawing/2014/main" id="{7B59931A-15AE-4DE4-B50D-C365D8376E3C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21235163">
            <a:off x="8333340" y="144267"/>
            <a:ext cx="527944" cy="84254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72;p38">
            <a:extLst>
              <a:ext uri="{FF2B5EF4-FFF2-40B4-BE49-F238E27FC236}">
                <a16:creationId xmlns:a16="http://schemas.microsoft.com/office/drawing/2014/main" id="{4558C006-18D9-4011-911C-2473CC233C07}"/>
              </a:ext>
            </a:extLst>
          </p:cNvPr>
          <p:cNvSpPr/>
          <p:nvPr/>
        </p:nvSpPr>
        <p:spPr>
          <a:xfrm>
            <a:off x="0" y="4921625"/>
            <a:ext cx="2918012" cy="2218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 </a:t>
            </a:r>
            <a:r>
              <a:rPr lang="ru-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9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 dirty="0">
                <a:solidFill>
                  <a:schemeClr val="lt1"/>
                </a:solidFill>
              </a:rPr>
              <a:t>Спасибо за внимание!</a:t>
            </a:r>
            <a:endParaRPr sz="5000" dirty="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1719</Words>
  <Application>Microsoft Office PowerPoint</Application>
  <PresentationFormat>Экран (16:9)</PresentationFormat>
  <Paragraphs>290</Paragraphs>
  <Slides>20</Slides>
  <Notes>20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Arial</vt:lpstr>
      <vt:lpstr>Courier New</vt:lpstr>
      <vt:lpstr>Roboto</vt:lpstr>
      <vt:lpstr>Roboto Medium</vt:lpstr>
      <vt:lpstr>Светлая тема</vt:lpstr>
      <vt:lpstr>Светлая тема</vt:lpstr>
      <vt:lpstr>Светлая тема</vt:lpstr>
      <vt:lpstr>Объект упаковщика для оболочки</vt:lpstr>
      <vt:lpstr>Презентация PowerPoint</vt:lpstr>
      <vt:lpstr>Меня хорошо видно &amp; слышно?</vt:lpstr>
      <vt:lpstr>Защита проекта Тема: Отказоустойчивый сервис в    растянутом L2 на две фабрики   </vt:lpstr>
      <vt:lpstr>План защиты</vt:lpstr>
      <vt:lpstr>Презентация PowerPoint</vt:lpstr>
      <vt:lpstr>Используемые технологии подбираем под задачу.</vt:lpstr>
      <vt:lpstr>Используемые технологии подбираем под задачу.</vt:lpstr>
      <vt:lpstr>Выполняемые работы 1. Строим физику 2. Планируем адресацию 3. Распределяем роли 4. Настраиваем</vt:lpstr>
      <vt:lpstr>Выполняемые работы 1. Строим физику 2. Планируем адресацию (первая часть) 3. Определяемся с ролями узлов 4. Настраиваем </vt:lpstr>
      <vt:lpstr>Выполняемые работы 1. Строим физику 2. Планируем адресацию (вторая часть) 3. Определяемся с ролями узлов 4. Настраиваем </vt:lpstr>
      <vt:lpstr>Выполняемые работы 1. Строим физику 2. Планируем адресацию (вторая часть) 3. Определяемся с ролями узлов 4. Настраиваем</vt:lpstr>
      <vt:lpstr>Выполняемые работы 1. Строим физику 2. Планируем адресацию (вторая часть) 3. Определяемся с ролями узлов 4. Настраиваем всё</vt:lpstr>
      <vt:lpstr>Что получилось?</vt:lpstr>
      <vt:lpstr>Что получилось?</vt:lpstr>
      <vt:lpstr>Что получилось?</vt:lpstr>
      <vt:lpstr>А что же НЕ получилось?</vt:lpstr>
      <vt:lpstr>Выводы </vt:lpstr>
      <vt:lpstr>Планы на будущее: 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Иван Фисун</cp:lastModifiedBy>
  <cp:revision>122</cp:revision>
  <dcterms:modified xsi:type="dcterms:W3CDTF">2025-11-03T20:18:37Z</dcterms:modified>
</cp:coreProperties>
</file>